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41"/>
  </p:notesMasterIdLst>
  <p:sldIdLst>
    <p:sldId id="335" r:id="rId2"/>
    <p:sldId id="337" r:id="rId3"/>
    <p:sldId id="338" r:id="rId4"/>
    <p:sldId id="256" r:id="rId5"/>
    <p:sldId id="257" r:id="rId6"/>
    <p:sldId id="258" r:id="rId7"/>
    <p:sldId id="259" r:id="rId8"/>
    <p:sldId id="260" r:id="rId9"/>
    <p:sldId id="261" r:id="rId10"/>
    <p:sldId id="339" r:id="rId11"/>
    <p:sldId id="340" r:id="rId12"/>
    <p:sldId id="263" r:id="rId13"/>
    <p:sldId id="264" r:id="rId14"/>
    <p:sldId id="265" r:id="rId15"/>
    <p:sldId id="266" r:id="rId16"/>
    <p:sldId id="267" r:id="rId17"/>
    <p:sldId id="268" r:id="rId18"/>
    <p:sldId id="269" r:id="rId19"/>
    <p:sldId id="270" r:id="rId20"/>
    <p:sldId id="271" r:id="rId21"/>
    <p:sldId id="341" r:id="rId22"/>
    <p:sldId id="342" r:id="rId23"/>
    <p:sldId id="336" r:id="rId24"/>
    <p:sldId id="273" r:id="rId25"/>
    <p:sldId id="274" r:id="rId26"/>
    <p:sldId id="275" r:id="rId27"/>
    <p:sldId id="276" r:id="rId28"/>
    <p:sldId id="277" r:id="rId29"/>
    <p:sldId id="281" r:id="rId30"/>
    <p:sldId id="278" r:id="rId31"/>
    <p:sldId id="343" r:id="rId32"/>
    <p:sldId id="283" r:id="rId33"/>
    <p:sldId id="284" r:id="rId34"/>
    <p:sldId id="282" r:id="rId35"/>
    <p:sldId id="285" r:id="rId36"/>
    <p:sldId id="344" r:id="rId37"/>
    <p:sldId id="345" r:id="rId38"/>
    <p:sldId id="346" r:id="rId39"/>
    <p:sldId id="347"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723" autoAdjust="0"/>
  </p:normalViewPr>
  <p:slideViewPr>
    <p:cSldViewPr snapToGrid="0" snapToObjects="1">
      <p:cViewPr>
        <p:scale>
          <a:sx n="101" d="100"/>
          <a:sy n="101" d="100"/>
        </p:scale>
        <p:origin x="1218" y="6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8FC5E5-6FBE-43FE-B2F6-FE44A9D3A44C}" type="datetimeFigureOut">
              <a:rPr lang="en-AU" smtClean="0"/>
              <a:t>13/02/2026</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421ADB-7536-4C0E-83E5-E56B7AA33775}" type="slidenum">
              <a:rPr lang="en-AU" smtClean="0"/>
              <a:t>‹#›</a:t>
            </a:fld>
            <a:endParaRPr lang="en-AU"/>
          </a:p>
        </p:txBody>
      </p:sp>
    </p:spTree>
    <p:extLst>
      <p:ext uri="{BB962C8B-B14F-4D97-AF65-F5344CB8AC3E}">
        <p14:creationId xmlns:p14="http://schemas.microsoft.com/office/powerpoint/2010/main" val="2413910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7633CF3-93BE-F449-A9F6-91B579183C58}" type="slidenum">
              <a:rPr lang="en-US" smtClean="0"/>
              <a:t>1</a:t>
            </a:fld>
            <a:endParaRPr lang="en-US"/>
          </a:p>
        </p:txBody>
      </p:sp>
    </p:spTree>
    <p:extLst>
      <p:ext uri="{BB962C8B-B14F-4D97-AF65-F5344CB8AC3E}">
        <p14:creationId xmlns:p14="http://schemas.microsoft.com/office/powerpoint/2010/main" val="204648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2</a:t>
            </a:fld>
            <a:endParaRPr lang="en-AU"/>
          </a:p>
        </p:txBody>
      </p:sp>
    </p:spTree>
    <p:extLst>
      <p:ext uri="{BB962C8B-B14F-4D97-AF65-F5344CB8AC3E}">
        <p14:creationId xmlns:p14="http://schemas.microsoft.com/office/powerpoint/2010/main" val="1136937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The Very High Segment Is Small but Material</a:t>
            </a:r>
          </a:p>
          <a:p>
            <a:r>
              <a:rPr lang="en-AU" dirty="0"/>
              <a:t>Only 1,510 episodes:</a:t>
            </a:r>
          </a:p>
          <a:p>
            <a:r>
              <a:rPr lang="en-AU" dirty="0"/>
              <a:t>Likely high-acuity</a:t>
            </a:r>
          </a:p>
          <a:p>
            <a:r>
              <a:rPr lang="en-AU" dirty="0"/>
              <a:t>Likely ICU / CCU heavy</a:t>
            </a:r>
          </a:p>
          <a:p>
            <a:r>
              <a:rPr lang="en-AU" dirty="0"/>
              <a:t>Likely prosthesis or major surgical cases</a:t>
            </a:r>
          </a:p>
          <a:p>
            <a:r>
              <a:rPr lang="en-AU" dirty="0"/>
              <a:t>But they generate </a:t>
            </a:r>
            <a:r>
              <a:rPr lang="en-AU" b="1" dirty="0"/>
              <a:t>multi-billion revenue impact</a:t>
            </a:r>
            <a:r>
              <a:rPr lang="en-AU" dirty="0"/>
              <a:t>.</a:t>
            </a:r>
          </a:p>
          <a:p>
            <a:r>
              <a:rPr lang="en-AU" dirty="0"/>
              <a:t>This is where:</a:t>
            </a:r>
          </a:p>
          <a:p>
            <a:r>
              <a:rPr lang="en-AU" dirty="0"/>
              <a:t>Insurer disputes are highest risk</a:t>
            </a:r>
          </a:p>
          <a:p>
            <a:r>
              <a:rPr lang="en-AU" dirty="0"/>
              <a:t>Documentation must be strongest</a:t>
            </a:r>
          </a:p>
          <a:p>
            <a:r>
              <a:rPr lang="en-AU" dirty="0"/>
              <a:t>Coding precision matters most</a:t>
            </a:r>
          </a:p>
          <a:p>
            <a:endParaRPr lang="en-AU" dirty="0"/>
          </a:p>
          <a:p>
            <a:r>
              <a:rPr lang="en-AU" b="1" dirty="0"/>
              <a:t>Operational Implications</a:t>
            </a:r>
          </a:p>
          <a:p>
            <a:r>
              <a:rPr lang="en-AU" b="1" dirty="0"/>
              <a:t>For Operations</a:t>
            </a:r>
          </a:p>
          <a:p>
            <a:r>
              <a:rPr lang="en-AU" dirty="0"/>
              <a:t>The High and Very High segments:</a:t>
            </a:r>
          </a:p>
          <a:p>
            <a:r>
              <a:rPr lang="en-AU" dirty="0"/>
              <a:t>Drive bed occupancy</a:t>
            </a:r>
          </a:p>
          <a:p>
            <a:r>
              <a:rPr lang="en-AU" dirty="0"/>
              <a:t>Drive theatre time</a:t>
            </a:r>
          </a:p>
          <a:p>
            <a:r>
              <a:rPr lang="en-AU" dirty="0"/>
              <a:t>Drive staffing intensity</a:t>
            </a:r>
          </a:p>
          <a:p>
            <a:r>
              <a:rPr lang="en-AU" dirty="0"/>
              <a:t>Likely correlate with longer LOS</a:t>
            </a:r>
          </a:p>
          <a:p>
            <a:r>
              <a:rPr lang="en-AU" dirty="0"/>
              <a:t>This is where:</a:t>
            </a:r>
          </a:p>
          <a:p>
            <a:r>
              <a:rPr lang="en-AU" dirty="0"/>
              <a:t>Capacity planning matters most</a:t>
            </a:r>
          </a:p>
          <a:p>
            <a:r>
              <a:rPr lang="en-AU" dirty="0"/>
              <a:t>Throughput bottlenecks matter most</a:t>
            </a:r>
          </a:p>
          <a:p>
            <a:r>
              <a:rPr lang="en-AU" dirty="0"/>
              <a:t>Resource allocation decisions matter most</a:t>
            </a:r>
          </a:p>
          <a:p>
            <a:br>
              <a:rPr lang="en-AU" dirty="0"/>
            </a:br>
            <a:endParaRPr lang="en-AU" dirty="0"/>
          </a:p>
          <a:p>
            <a:r>
              <a:rPr lang="en-AU" b="1" dirty="0"/>
              <a:t>For Finance</a:t>
            </a:r>
          </a:p>
          <a:p>
            <a:r>
              <a:rPr lang="en-AU" dirty="0"/>
              <a:t>The Very High group represents:</a:t>
            </a:r>
          </a:p>
          <a:p>
            <a:r>
              <a:rPr lang="en-AU" dirty="0"/>
              <a:t>Revenue concentration risk</a:t>
            </a:r>
          </a:p>
          <a:p>
            <a:r>
              <a:rPr lang="en-AU" dirty="0"/>
              <a:t>Contract sensitivity</a:t>
            </a:r>
          </a:p>
          <a:p>
            <a:r>
              <a:rPr lang="en-AU" dirty="0"/>
              <a:t>Potential variance exposure</a:t>
            </a:r>
          </a:p>
          <a:p>
            <a:r>
              <a:rPr lang="en-AU" dirty="0"/>
              <a:t>Most volatile cost base</a:t>
            </a:r>
          </a:p>
          <a:p>
            <a:r>
              <a:rPr lang="en-AU" dirty="0"/>
              <a:t>If reimbursement rules change, this segment moves the most.</a:t>
            </a:r>
          </a:p>
          <a:p>
            <a:br>
              <a:rPr lang="en-AU" dirty="0"/>
            </a:br>
            <a:endParaRPr lang="en-AU" dirty="0"/>
          </a:p>
          <a:p>
            <a:r>
              <a:rPr lang="en-AU" b="1" dirty="0"/>
              <a:t> Governance Insight</a:t>
            </a:r>
          </a:p>
          <a:p>
            <a:r>
              <a:rPr lang="en-AU" dirty="0"/>
              <a:t>If errors occur:</a:t>
            </a:r>
          </a:p>
          <a:p>
            <a:r>
              <a:rPr lang="en-AU" dirty="0"/>
              <a:t>In Low segment → minimal impact</a:t>
            </a:r>
          </a:p>
          <a:p>
            <a:r>
              <a:rPr lang="en-AU" dirty="0"/>
              <a:t>In Very High segment → extremely material impact</a:t>
            </a:r>
          </a:p>
          <a:p>
            <a:r>
              <a:rPr lang="en-AU" dirty="0"/>
              <a:t>This suggests a governance strategy:</a:t>
            </a:r>
          </a:p>
          <a:p>
            <a:r>
              <a:rPr lang="en-AU" dirty="0"/>
              <a:t>Apply stronger billing validation and anomaly checks to High and Very High segments.</a:t>
            </a:r>
          </a:p>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12</a:t>
            </a:fld>
            <a:endParaRPr lang="en-AU"/>
          </a:p>
        </p:txBody>
      </p:sp>
    </p:spTree>
    <p:extLst>
      <p:ext uri="{BB962C8B-B14F-4D97-AF65-F5344CB8AC3E}">
        <p14:creationId xmlns:p14="http://schemas.microsoft.com/office/powerpoint/2010/main" val="2661350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1- Median LOS by Cost Segment</a:t>
            </a:r>
          </a:p>
          <a:p>
            <a:r>
              <a:rPr lang="en-AU" dirty="0"/>
              <a:t>Median LOS increases sharply across segments:</a:t>
            </a:r>
          </a:p>
          <a:p>
            <a:r>
              <a:rPr lang="en-AU" b="1" dirty="0"/>
              <a:t>Low:</a:t>
            </a:r>
            <a:r>
              <a:rPr lang="en-AU" dirty="0"/>
              <a:t> 0.18 days</a:t>
            </a:r>
          </a:p>
          <a:p>
            <a:r>
              <a:rPr lang="en-AU" b="1" dirty="0"/>
              <a:t>Medium:</a:t>
            </a:r>
            <a:r>
              <a:rPr lang="en-AU" dirty="0"/>
              <a:t> 0.18 days</a:t>
            </a:r>
          </a:p>
          <a:p>
            <a:r>
              <a:rPr lang="en-AU" b="1" dirty="0"/>
              <a:t>High:</a:t>
            </a:r>
            <a:r>
              <a:rPr lang="en-AU" dirty="0"/>
              <a:t> 1.08 days</a:t>
            </a:r>
          </a:p>
          <a:p>
            <a:r>
              <a:rPr lang="en-AU" b="1" dirty="0"/>
              <a:t>Very High:</a:t>
            </a:r>
            <a:r>
              <a:rPr lang="en-AU" dirty="0"/>
              <a:t> 3.11 days</a:t>
            </a:r>
          </a:p>
          <a:p>
            <a:r>
              <a:rPr lang="en-AU" b="1" dirty="0"/>
              <a:t>What this means:</a:t>
            </a:r>
          </a:p>
          <a:p>
            <a:r>
              <a:rPr lang="en-AU" dirty="0"/>
              <a:t>Low and Medium cases are overwhelmingly </a:t>
            </a:r>
            <a:r>
              <a:rPr lang="en-AU" b="1" dirty="0"/>
              <a:t>same-day or short-stay episodes</a:t>
            </a:r>
            <a:r>
              <a:rPr lang="en-AU" dirty="0"/>
              <a:t>.</a:t>
            </a:r>
          </a:p>
          <a:p>
            <a:r>
              <a:rPr lang="en-AU" dirty="0"/>
              <a:t>High cases cross into </a:t>
            </a:r>
            <a:r>
              <a:rPr lang="en-AU" b="1" dirty="0"/>
              <a:t>multi-day inpatient territory</a:t>
            </a:r>
            <a:r>
              <a:rPr lang="en-AU" dirty="0"/>
              <a:t>.</a:t>
            </a:r>
          </a:p>
          <a:p>
            <a:r>
              <a:rPr lang="en-AU" dirty="0"/>
              <a:t>Very High cases are clearly </a:t>
            </a:r>
            <a:r>
              <a:rPr lang="en-AU" b="1" dirty="0"/>
              <a:t>prolonged admissions</a:t>
            </a:r>
            <a:r>
              <a:rPr lang="en-AU" dirty="0"/>
              <a:t>.</a:t>
            </a:r>
          </a:p>
          <a:p>
            <a:r>
              <a:rPr lang="en-AU" dirty="0"/>
              <a:t>There is a strong monotonic relationship:</a:t>
            </a:r>
          </a:p>
          <a:p>
            <a:r>
              <a:rPr lang="en-AU" dirty="0"/>
              <a:t>As cost segment increases, median length of stay increases.</a:t>
            </a:r>
          </a:p>
          <a:p>
            <a:r>
              <a:rPr lang="en-AU" dirty="0"/>
              <a:t>This suggests LOS is a key structural driver of cost.</a:t>
            </a:r>
          </a:p>
          <a:p>
            <a:br>
              <a:rPr lang="en-AU" dirty="0"/>
            </a:br>
            <a:endParaRPr lang="en-AU" dirty="0"/>
          </a:p>
          <a:p>
            <a:r>
              <a:rPr lang="en-AU" b="1" dirty="0"/>
              <a:t>2- LOS Distribution (Boxplot)</a:t>
            </a:r>
          </a:p>
          <a:p>
            <a:r>
              <a:rPr lang="en-AU" dirty="0"/>
              <a:t>The boxplot adds depth:</a:t>
            </a:r>
          </a:p>
          <a:p>
            <a:r>
              <a:rPr lang="en-AU" b="1" dirty="0"/>
              <a:t>A. Spread increases with cost</a:t>
            </a:r>
          </a:p>
          <a:p>
            <a:r>
              <a:rPr lang="en-AU" dirty="0"/>
              <a:t>Low/Medium → tightly compressed around zero</a:t>
            </a:r>
          </a:p>
          <a:p>
            <a:r>
              <a:rPr lang="en-AU" dirty="0"/>
              <a:t>High → wider distribution</a:t>
            </a:r>
          </a:p>
          <a:p>
            <a:r>
              <a:rPr lang="en-AU" dirty="0"/>
              <a:t>Very High → significantly wider spread</a:t>
            </a:r>
          </a:p>
          <a:p>
            <a:r>
              <a:rPr lang="en-AU" dirty="0"/>
              <a:t>This means:</a:t>
            </a:r>
          </a:p>
          <a:p>
            <a:r>
              <a:rPr lang="en-AU" dirty="0"/>
              <a:t>Cost is not just higher — it is more variable.</a:t>
            </a:r>
          </a:p>
          <a:p>
            <a:r>
              <a:rPr lang="en-AU" dirty="0"/>
              <a:t>Very High cases are operationally less predictable.</a:t>
            </a:r>
          </a:p>
          <a:p>
            <a:br>
              <a:rPr lang="en-AU" dirty="0"/>
            </a:br>
            <a:endParaRPr lang="en-AU" dirty="0"/>
          </a:p>
          <a:p>
            <a:r>
              <a:rPr lang="en-AU" b="1" dirty="0"/>
              <a:t>B. Heavy Right Tail in Very High</a:t>
            </a:r>
          </a:p>
          <a:p>
            <a:r>
              <a:rPr lang="en-AU" dirty="0"/>
              <a:t>Very High shows:</a:t>
            </a:r>
          </a:p>
          <a:p>
            <a:r>
              <a:rPr lang="en-AU" dirty="0"/>
              <a:t>Many long-stay outliers (20–40+ days)</a:t>
            </a:r>
          </a:p>
          <a:p>
            <a:r>
              <a:rPr lang="en-AU" dirty="0"/>
              <a:t>Extreme cases approaching ~100 days</a:t>
            </a:r>
          </a:p>
          <a:p>
            <a:r>
              <a:rPr lang="en-AU" dirty="0"/>
              <a:t>This indicates:</a:t>
            </a:r>
          </a:p>
          <a:p>
            <a:r>
              <a:rPr lang="en-AU" dirty="0"/>
              <a:t>Complex inpatient pathways</a:t>
            </a:r>
          </a:p>
          <a:p>
            <a:r>
              <a:rPr lang="en-AU" dirty="0"/>
              <a:t>Possibly delayed discharge</a:t>
            </a:r>
          </a:p>
          <a:p>
            <a:r>
              <a:rPr lang="en-AU" dirty="0"/>
              <a:t>Complications</a:t>
            </a:r>
          </a:p>
          <a:p>
            <a:r>
              <a:rPr lang="en-AU" dirty="0"/>
              <a:t>Rehabilitation or step-down waiting</a:t>
            </a:r>
          </a:p>
          <a:p>
            <a:r>
              <a:rPr lang="en-AU" dirty="0"/>
              <a:t>High-acuity cases</a:t>
            </a:r>
          </a:p>
          <a:p>
            <a:r>
              <a:rPr lang="en-AU" dirty="0"/>
              <a:t>This tail is important.</a:t>
            </a:r>
          </a:p>
          <a:p>
            <a:r>
              <a:rPr lang="en-AU" dirty="0"/>
              <a:t>Because:</a:t>
            </a:r>
          </a:p>
          <a:p>
            <a:r>
              <a:rPr lang="en-AU" dirty="0"/>
              <a:t>Extreme LOS cases likely drive disproportionate marginal cost.</a:t>
            </a:r>
          </a:p>
          <a:p>
            <a:br>
              <a:rPr lang="en-AU" dirty="0"/>
            </a:br>
            <a:endParaRPr lang="en-AU" dirty="0"/>
          </a:p>
          <a:p>
            <a:r>
              <a:rPr lang="en-AU" b="1" dirty="0"/>
              <a:t>3- Low &amp; Medium Segments</a:t>
            </a:r>
          </a:p>
          <a:p>
            <a:r>
              <a:rPr lang="en-AU" dirty="0"/>
              <a:t>They are:</a:t>
            </a:r>
          </a:p>
          <a:p>
            <a:r>
              <a:rPr lang="en-AU" dirty="0"/>
              <a:t>Short stay</a:t>
            </a:r>
          </a:p>
          <a:p>
            <a:r>
              <a:rPr lang="en-AU" dirty="0"/>
              <a:t>Operationally predictable</a:t>
            </a:r>
          </a:p>
          <a:p>
            <a:r>
              <a:rPr lang="en-AU" dirty="0"/>
              <a:t>Likely procedural / day surgery driven</a:t>
            </a:r>
          </a:p>
          <a:p>
            <a:r>
              <a:rPr lang="en-AU" dirty="0"/>
              <a:t>These are not your operational risk zones.</a:t>
            </a:r>
          </a:p>
          <a:p>
            <a:br>
              <a:rPr lang="en-AU" dirty="0"/>
            </a:br>
            <a:endParaRPr lang="en-AU" dirty="0"/>
          </a:p>
          <a:p>
            <a:r>
              <a:rPr lang="en-AU" b="1" dirty="0"/>
              <a:t>Operational Interpretation</a:t>
            </a:r>
          </a:p>
          <a:p>
            <a:r>
              <a:rPr lang="en-AU" dirty="0"/>
              <a:t>Very High segment likely:</a:t>
            </a:r>
          </a:p>
          <a:p>
            <a:r>
              <a:rPr lang="en-AU" dirty="0"/>
              <a:t>Drives bed occupancy pressure</a:t>
            </a:r>
          </a:p>
          <a:p>
            <a:r>
              <a:rPr lang="en-AU" dirty="0"/>
              <a:t>Requires higher nursing intensity</a:t>
            </a:r>
          </a:p>
          <a:p>
            <a:r>
              <a:rPr lang="en-AU" dirty="0"/>
              <a:t>Involves ICU / CCU exposure</a:t>
            </a:r>
          </a:p>
          <a:p>
            <a:r>
              <a:rPr lang="en-AU" dirty="0"/>
              <a:t>Has higher discharge planning complexity</a:t>
            </a:r>
          </a:p>
          <a:p>
            <a:r>
              <a:rPr lang="en-AU" dirty="0"/>
              <a:t>If hospital capacity is strained, this segment is where bottlenecks occur.</a:t>
            </a:r>
          </a:p>
          <a:p>
            <a:br>
              <a:rPr lang="en-AU" dirty="0"/>
            </a:br>
            <a:endParaRPr lang="en-AU" dirty="0"/>
          </a:p>
          <a:p>
            <a:r>
              <a:rPr lang="en-AU" b="1" dirty="0"/>
              <a:t> Financial Interpretation</a:t>
            </a:r>
          </a:p>
          <a:p>
            <a:r>
              <a:rPr lang="en-AU" dirty="0"/>
              <a:t>LOS directly increases:</a:t>
            </a:r>
          </a:p>
          <a:p>
            <a:r>
              <a:rPr lang="en-AU" dirty="0"/>
              <a:t>Accommodation charges</a:t>
            </a:r>
          </a:p>
          <a:p>
            <a:r>
              <a:rPr lang="en-AU" dirty="0"/>
              <a:t>Nursing labour</a:t>
            </a:r>
          </a:p>
          <a:p>
            <a:r>
              <a:rPr lang="en-AU" dirty="0"/>
              <a:t>Overheads</a:t>
            </a:r>
          </a:p>
          <a:p>
            <a:r>
              <a:rPr lang="en-AU" dirty="0"/>
              <a:t>Resource consumption</a:t>
            </a:r>
          </a:p>
          <a:p>
            <a:r>
              <a:rPr lang="en-AU" dirty="0"/>
              <a:t>But the tail suggests:</a:t>
            </a:r>
          </a:p>
          <a:p>
            <a:r>
              <a:rPr lang="en-AU" dirty="0"/>
              <a:t>A small number of extreme LOS cases could distort margins</a:t>
            </a:r>
          </a:p>
          <a:p>
            <a:r>
              <a:rPr lang="en-AU" dirty="0"/>
              <a:t>These may require targeted clinical review</a:t>
            </a:r>
          </a:p>
          <a:p>
            <a:br>
              <a:rPr lang="en-AU" dirty="0"/>
            </a:br>
            <a:endParaRPr lang="en-AU" dirty="0"/>
          </a:p>
          <a:p>
            <a:r>
              <a:rPr lang="en-AU" b="1" dirty="0"/>
              <a:t>Strategic Insight</a:t>
            </a:r>
          </a:p>
          <a:p>
            <a:r>
              <a:rPr lang="en-AU" dirty="0"/>
              <a:t>Cost escalation is strongly associated with prolonged hospital stay.</a:t>
            </a:r>
          </a:p>
          <a:p>
            <a:r>
              <a:rPr lang="en-AU" b="1" dirty="0"/>
              <a:t>Narrative A — Operational Efficiency</a:t>
            </a:r>
          </a:p>
          <a:p>
            <a:r>
              <a:rPr lang="en-AU" dirty="0"/>
              <a:t>If LOS is reducible:</a:t>
            </a:r>
          </a:p>
          <a:p>
            <a:r>
              <a:rPr lang="en-AU" dirty="0"/>
              <a:t>Improve discharge planning</a:t>
            </a:r>
          </a:p>
          <a:p>
            <a:r>
              <a:rPr lang="en-AU" dirty="0"/>
              <a:t>Early rehab referral</a:t>
            </a:r>
          </a:p>
          <a:p>
            <a:r>
              <a:rPr lang="en-AU" dirty="0"/>
              <a:t>Bed management optimisation</a:t>
            </a:r>
          </a:p>
          <a:p>
            <a:r>
              <a:rPr lang="en-AU" b="1" dirty="0"/>
              <a:t>Narrative B — Case Complexity</a:t>
            </a:r>
          </a:p>
          <a:p>
            <a:r>
              <a:rPr lang="en-AU" dirty="0"/>
              <a:t>If LOS reflects unavoidable clinical complexity:</a:t>
            </a:r>
          </a:p>
          <a:p>
            <a:r>
              <a:rPr lang="en-AU" dirty="0"/>
              <a:t>Focus on reimbursement alignment</a:t>
            </a:r>
          </a:p>
          <a:p>
            <a:r>
              <a:rPr lang="en-AU" dirty="0"/>
              <a:t>DRG review</a:t>
            </a:r>
          </a:p>
          <a:p>
            <a:r>
              <a:rPr lang="en-AU" dirty="0"/>
              <a:t>Funding advocacy</a:t>
            </a:r>
          </a:p>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13</a:t>
            </a:fld>
            <a:endParaRPr lang="en-AU"/>
          </a:p>
        </p:txBody>
      </p:sp>
    </p:spTree>
    <p:extLst>
      <p:ext uri="{BB962C8B-B14F-4D97-AF65-F5344CB8AC3E}">
        <p14:creationId xmlns:p14="http://schemas.microsoft.com/office/powerpoint/2010/main" val="3417930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1- 81.63% of High / Very High episodes involve theatre use</a:t>
            </a:r>
          </a:p>
          <a:p>
            <a:r>
              <a:rPr lang="en-AU" dirty="0"/>
              <a:t>This is critical.</a:t>
            </a:r>
          </a:p>
          <a:p>
            <a:r>
              <a:rPr lang="en-AU" dirty="0"/>
              <a:t>It tells us:</a:t>
            </a:r>
          </a:p>
          <a:p>
            <a:r>
              <a:rPr lang="en-AU" dirty="0"/>
              <a:t>The majority of high-cost cases are procedure-driven.</a:t>
            </a:r>
          </a:p>
          <a:p>
            <a:r>
              <a:rPr lang="en-AU" dirty="0"/>
              <a:t>High expenditure is not random.</a:t>
            </a:r>
            <a:br>
              <a:rPr lang="en-AU" dirty="0"/>
            </a:br>
            <a:r>
              <a:rPr lang="en-AU" dirty="0"/>
              <a:t>It is largely associated with surgical intervention.</a:t>
            </a:r>
          </a:p>
          <a:p>
            <a:br>
              <a:rPr lang="en-AU" dirty="0"/>
            </a:br>
            <a:endParaRPr lang="en-AU" dirty="0"/>
          </a:p>
          <a:p>
            <a:r>
              <a:rPr lang="en-AU" b="1" dirty="0"/>
              <a:t>2 Median Theatre Minutes Increase Systematically</a:t>
            </a:r>
          </a:p>
          <a:p>
            <a:r>
              <a:rPr lang="en-AU" dirty="0"/>
              <a:t>Median theatre minutes by segment:</a:t>
            </a:r>
          </a:p>
          <a:p>
            <a:r>
              <a:rPr lang="en-AU" b="1" dirty="0"/>
              <a:t>Low:</a:t>
            </a:r>
            <a:r>
              <a:rPr lang="en-AU" dirty="0"/>
              <a:t> 0 minutes</a:t>
            </a:r>
          </a:p>
          <a:p>
            <a:r>
              <a:rPr lang="en-AU" b="1" dirty="0"/>
              <a:t>Medium:</a:t>
            </a:r>
            <a:r>
              <a:rPr lang="en-AU" dirty="0"/>
              <a:t> 23 minutes</a:t>
            </a:r>
          </a:p>
          <a:p>
            <a:r>
              <a:rPr lang="en-AU" b="1" dirty="0"/>
              <a:t>High:</a:t>
            </a:r>
            <a:r>
              <a:rPr lang="en-AU" dirty="0"/>
              <a:t> 44 minutes</a:t>
            </a:r>
          </a:p>
          <a:p>
            <a:r>
              <a:rPr lang="en-AU" b="1" dirty="0"/>
              <a:t>Very High:</a:t>
            </a:r>
            <a:r>
              <a:rPr lang="en-AU" dirty="0"/>
              <a:t> 108 minutes</a:t>
            </a:r>
          </a:p>
          <a:p>
            <a:r>
              <a:rPr lang="en-AU" dirty="0"/>
              <a:t>This shows a clear monotonic relationship:</a:t>
            </a:r>
          </a:p>
          <a:p>
            <a:r>
              <a:rPr lang="en-AU" dirty="0"/>
              <a:t>As cost segment increases, procedural intensity increases.</a:t>
            </a:r>
          </a:p>
          <a:p>
            <a:r>
              <a:rPr lang="en-AU" dirty="0"/>
              <a:t>Very High cases involve:</a:t>
            </a:r>
          </a:p>
          <a:p>
            <a:r>
              <a:rPr lang="en-AU" dirty="0"/>
              <a:t>~2.5x theatre time compared to High</a:t>
            </a:r>
          </a:p>
          <a:p>
            <a:r>
              <a:rPr lang="en-AU" dirty="0"/>
              <a:t>~5x theatre time compared to Medium</a:t>
            </a:r>
          </a:p>
          <a:p>
            <a:r>
              <a:rPr lang="en-AU" dirty="0"/>
              <a:t>No theatre involvement in Low</a:t>
            </a:r>
          </a:p>
          <a:p>
            <a:r>
              <a:rPr lang="en-AU" dirty="0"/>
              <a:t>That’s a powerful structural insight.</a:t>
            </a:r>
          </a:p>
          <a:p>
            <a:br>
              <a:rPr lang="en-AU" dirty="0"/>
            </a:br>
            <a:endParaRPr lang="en-AU" dirty="0"/>
          </a:p>
          <a:p>
            <a:r>
              <a:rPr lang="en-AU" b="1" dirty="0"/>
              <a:t> What This Means Operationally</a:t>
            </a:r>
          </a:p>
          <a:p>
            <a:r>
              <a:rPr lang="en-AU" dirty="0"/>
              <a:t>Theatre utilisation is a major driver of cost concentration.</a:t>
            </a:r>
          </a:p>
          <a:p>
            <a:r>
              <a:rPr lang="en-AU" dirty="0"/>
              <a:t>Specifically:</a:t>
            </a:r>
          </a:p>
          <a:p>
            <a:r>
              <a:rPr lang="en-AU" dirty="0"/>
              <a:t>Low/Medium = mostly non-procedural or minor interventions</a:t>
            </a:r>
          </a:p>
          <a:p>
            <a:r>
              <a:rPr lang="en-AU" dirty="0"/>
              <a:t>High = moderate procedures</a:t>
            </a:r>
          </a:p>
          <a:p>
            <a:r>
              <a:rPr lang="en-AU" dirty="0"/>
              <a:t>Very High = long and complex procedures</a:t>
            </a:r>
          </a:p>
          <a:p>
            <a:r>
              <a:rPr lang="en-AU" dirty="0"/>
              <a:t>Very High cases likely include:</a:t>
            </a:r>
          </a:p>
          <a:p>
            <a:r>
              <a:rPr lang="en-AU" dirty="0"/>
              <a:t>Major orthopaedics</a:t>
            </a:r>
          </a:p>
          <a:p>
            <a:r>
              <a:rPr lang="en-AU" dirty="0"/>
              <a:t>Complex cardiac surgery</a:t>
            </a:r>
          </a:p>
          <a:p>
            <a:r>
              <a:rPr lang="en-AU" dirty="0"/>
              <a:t>Multi-hour procedures</a:t>
            </a:r>
          </a:p>
          <a:p>
            <a:r>
              <a:rPr lang="en-AU" dirty="0"/>
              <a:t>Prosthesis-heavy interventions</a:t>
            </a:r>
          </a:p>
          <a:p>
            <a:r>
              <a:rPr lang="en-AU" dirty="0"/>
              <a:t>This aligns with the Pareto pattern you showed earlier.</a:t>
            </a:r>
          </a:p>
          <a:p>
            <a:br>
              <a:rPr lang="en-AU" dirty="0"/>
            </a:br>
            <a:endParaRPr lang="en-AU" dirty="0"/>
          </a:p>
          <a:p>
            <a:r>
              <a:rPr lang="en-AU" b="1" dirty="0"/>
              <a:t> Operational Implications</a:t>
            </a:r>
          </a:p>
          <a:p>
            <a:r>
              <a:rPr lang="en-AU" dirty="0"/>
              <a:t>Theatre capacity becomes a key performance lever.</a:t>
            </a:r>
          </a:p>
          <a:p>
            <a:r>
              <a:rPr lang="en-AU" dirty="0"/>
              <a:t>If 25% of episodes drive most revenue AND 82% of them require theatre:</a:t>
            </a:r>
          </a:p>
          <a:p>
            <a:r>
              <a:rPr lang="en-AU" dirty="0"/>
              <a:t>Theatre scheduling efficiency matters</a:t>
            </a:r>
          </a:p>
          <a:p>
            <a:r>
              <a:rPr lang="en-AU" dirty="0"/>
              <a:t>Turnover time matters</a:t>
            </a:r>
          </a:p>
          <a:p>
            <a:r>
              <a:rPr lang="en-AU" dirty="0"/>
              <a:t>Utilisation optimisation matters</a:t>
            </a:r>
          </a:p>
          <a:p>
            <a:r>
              <a:rPr lang="en-AU" dirty="0"/>
              <a:t>Staffing mix matters</a:t>
            </a:r>
          </a:p>
          <a:p>
            <a:r>
              <a:rPr lang="en-AU" dirty="0"/>
              <a:t>Revenue protection is tightly linked to theatre operations.</a:t>
            </a:r>
          </a:p>
          <a:p>
            <a:br>
              <a:rPr lang="en-AU" dirty="0"/>
            </a:br>
            <a:endParaRPr lang="en-AU" dirty="0"/>
          </a:p>
          <a:p>
            <a:r>
              <a:rPr lang="en-AU" b="1" dirty="0"/>
              <a:t> Financial Implications</a:t>
            </a:r>
          </a:p>
          <a:p>
            <a:r>
              <a:rPr lang="en-AU" dirty="0"/>
              <a:t>Longer theatre time generally means:</a:t>
            </a:r>
          </a:p>
          <a:p>
            <a:r>
              <a:rPr lang="en-AU" dirty="0"/>
              <a:t>Higher staffing cost</a:t>
            </a:r>
          </a:p>
          <a:p>
            <a:r>
              <a:rPr lang="en-AU" dirty="0"/>
              <a:t>Higher consumable use</a:t>
            </a:r>
          </a:p>
          <a:p>
            <a:r>
              <a:rPr lang="en-AU" dirty="0"/>
              <a:t>Higher prosthesis probability</a:t>
            </a:r>
          </a:p>
          <a:p>
            <a:r>
              <a:rPr lang="en-AU" dirty="0"/>
              <a:t>Greater insurer scrutiny</a:t>
            </a:r>
          </a:p>
          <a:p>
            <a:r>
              <a:rPr lang="en-AU" dirty="0"/>
              <a:t>Very High cases represent:</a:t>
            </a:r>
          </a:p>
          <a:p>
            <a:r>
              <a:rPr lang="en-AU" dirty="0"/>
              <a:t>Higher margin volatility</a:t>
            </a:r>
          </a:p>
          <a:p>
            <a:r>
              <a:rPr lang="en-AU" dirty="0"/>
              <a:t>Greater billing sensitivity</a:t>
            </a:r>
          </a:p>
          <a:p>
            <a:r>
              <a:rPr lang="en-AU" dirty="0"/>
              <a:t>Greater contract dependency</a:t>
            </a:r>
          </a:p>
          <a:p>
            <a:br>
              <a:rPr lang="en-AU" dirty="0"/>
            </a:br>
            <a:endParaRPr lang="en-AU" dirty="0"/>
          </a:p>
          <a:p>
            <a:r>
              <a:rPr lang="en-AU" b="1" dirty="0"/>
              <a:t> Linking LOS + Theatre Together</a:t>
            </a:r>
          </a:p>
          <a:p>
            <a:r>
              <a:rPr lang="en-AU" dirty="0"/>
              <a:t>previously showed:</a:t>
            </a:r>
          </a:p>
          <a:p>
            <a:r>
              <a:rPr lang="en-AU" dirty="0"/>
              <a:t>Very High median LOS = 3.11 days</a:t>
            </a:r>
          </a:p>
          <a:p>
            <a:r>
              <a:rPr lang="en-AU" dirty="0"/>
              <a:t>High median LOS = 1.08 days</a:t>
            </a:r>
          </a:p>
          <a:p>
            <a:r>
              <a:rPr lang="en-AU" dirty="0"/>
              <a:t>Now show:</a:t>
            </a:r>
          </a:p>
          <a:p>
            <a:r>
              <a:rPr lang="en-AU" dirty="0"/>
              <a:t>Very High median theatre = 108 mins</a:t>
            </a:r>
          </a:p>
          <a:p>
            <a:r>
              <a:rPr lang="en-AU" dirty="0"/>
              <a:t>High median theatre = 44 mins</a:t>
            </a:r>
          </a:p>
          <a:p>
            <a:r>
              <a:rPr lang="en-AU" dirty="0"/>
              <a:t>This suggests:</a:t>
            </a:r>
          </a:p>
          <a:p>
            <a:r>
              <a:rPr lang="en-AU" dirty="0"/>
              <a:t>Cost escalation is driven by both procedural intensity AND longer inpatient stay.</a:t>
            </a:r>
          </a:p>
          <a:p>
            <a:r>
              <a:rPr lang="en-AU" dirty="0"/>
              <a:t>This is a dual driver model:</a:t>
            </a:r>
          </a:p>
          <a:p>
            <a:r>
              <a:rPr lang="en-AU" dirty="0"/>
              <a:t>Procedural intensity</a:t>
            </a:r>
          </a:p>
          <a:p>
            <a:r>
              <a:rPr lang="en-AU" dirty="0"/>
              <a:t>Post-operative resource utilisation</a:t>
            </a:r>
          </a:p>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14</a:t>
            </a:fld>
            <a:endParaRPr lang="en-AU"/>
          </a:p>
        </p:txBody>
      </p:sp>
    </p:spTree>
    <p:extLst>
      <p:ext uri="{BB962C8B-B14F-4D97-AF65-F5344CB8AC3E}">
        <p14:creationId xmlns:p14="http://schemas.microsoft.com/office/powerpoint/2010/main" val="2644643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16</a:t>
            </a:fld>
            <a:endParaRPr lang="en-AU"/>
          </a:p>
        </p:txBody>
      </p:sp>
    </p:spTree>
    <p:extLst>
      <p:ext uri="{BB962C8B-B14F-4D97-AF65-F5344CB8AC3E}">
        <p14:creationId xmlns:p14="http://schemas.microsoft.com/office/powerpoint/2010/main" val="1422059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19</a:t>
            </a:fld>
            <a:endParaRPr lang="en-AU"/>
          </a:p>
        </p:txBody>
      </p:sp>
    </p:spTree>
    <p:extLst>
      <p:ext uri="{BB962C8B-B14F-4D97-AF65-F5344CB8AC3E}">
        <p14:creationId xmlns:p14="http://schemas.microsoft.com/office/powerpoint/2010/main" val="2501130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AU" b="1" dirty="0"/>
                  <a:t>What does 0.2715 mean in real terms?</a:t>
                </a:r>
              </a:p>
              <a:p>
                <a:r>
                  <a:rPr lang="en-AU" dirty="0"/>
                  <a:t>Since we're predicting log(cost):</a:t>
                </a:r>
              </a:p>
              <a:p>
                <a:pPr/>
                <a14:m>
                  <m:oMathPara xmlns:m="http://schemas.openxmlformats.org/officeDocument/2006/math">
                    <m:oMathParaPr>
                      <m:jc m:val="centerGroup"/>
                    </m:oMathParaPr>
                    <m:oMath xmlns:m="http://schemas.openxmlformats.org/officeDocument/2006/math">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𝑒</m:t>
                          </m:r>
                        </m:e>
                        <m:sup>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2715</m:t>
                          </m:r>
                        </m:sup>
                      </m:s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312</m:t>
                      </m:r>
                    </m:oMath>
                  </m:oMathPara>
                </a14:m>
                <a:endParaRPr lang="ar-AE" dirty="0"/>
              </a:p>
              <a:p>
                <a:r>
                  <a:rPr lang="en-AU" dirty="0"/>
                  <a:t>That means:</a:t>
                </a:r>
              </a:p>
              <a:p>
                <a:r>
                  <a:rPr lang="en-AU" dirty="0"/>
                  <a:t>Average multiplicative error ≈ </a:t>
                </a:r>
                <a:r>
                  <a:rPr lang="en-AU" b="1" dirty="0"/>
                  <a:t>31%</a:t>
                </a:r>
                <a:endParaRPr lang="en-AU" dirty="0"/>
              </a:p>
              <a:p>
                <a:r>
                  <a:rPr lang="en-AU" dirty="0"/>
                  <a:t>Interpretation:</a:t>
                </a:r>
              </a:p>
              <a:p>
                <a:r>
                  <a:rPr lang="en-AU" dirty="0"/>
                  <a:t>If actual cost = $10,000</a:t>
                </a:r>
                <a:br>
                  <a:rPr lang="en-AU" dirty="0"/>
                </a:br>
                <a:r>
                  <a:rPr lang="en-AU" dirty="0"/>
                  <a:t>Typical prediction range ≈ $7,600 – $13,100</a:t>
                </a:r>
              </a:p>
              <a:p>
                <a:r>
                  <a:rPr lang="en-AU" dirty="0"/>
                  <a:t>That is </a:t>
                </a:r>
                <a:r>
                  <a:rPr lang="en-AU" b="1" dirty="0"/>
                  <a:t>very reasonable for healthcare cost modelling</a:t>
                </a:r>
                <a:r>
                  <a:rPr lang="en-AU" dirty="0"/>
                  <a:t>.</a:t>
                </a:r>
              </a:p>
              <a:p>
                <a:endParaRPr lang="en-AU" dirty="0"/>
              </a:p>
            </p:txBody>
          </p:sp>
        </mc:Choice>
        <mc:Fallback xmlns="">
          <p:sp>
            <p:nvSpPr>
              <p:cNvPr id="3" name="Notes Placeholder 2"/>
              <p:cNvSpPr>
                <a:spLocks noGrp="1"/>
              </p:cNvSpPr>
              <p:nvPr>
                <p:ph type="body" idx="1"/>
              </p:nvPr>
            </p:nvSpPr>
            <p:spPr/>
            <p:txBody>
              <a:bodyPr/>
              <a:lstStyle/>
              <a:p>
                <a:r>
                  <a:rPr lang="en-AU" b="1" dirty="0"/>
                  <a:t>What does 0.2715 mean in real terms?</a:t>
                </a:r>
              </a:p>
              <a:p>
                <a:r>
                  <a:rPr lang="en-AU" dirty="0"/>
                  <a:t>Since we're predicting log(cost):</a:t>
                </a:r>
              </a:p>
              <a:p>
                <a:r>
                  <a:rPr lang="ar-AE" sz="1200" i="0" kern="1200">
                    <a:solidFill>
                      <a:schemeClr val="tx1"/>
                    </a:solidFill>
                    <a:latin typeface="+mn-lt"/>
                    <a:ea typeface="+mn-ea"/>
                    <a:cs typeface="+mn-cs"/>
                  </a:rPr>
                  <a:t>𝑒^0.2715≈1.312</a:t>
                </a:r>
                <a:endParaRPr lang="ar-AE" dirty="0"/>
              </a:p>
              <a:p>
                <a:r>
                  <a:rPr lang="en-AU" dirty="0"/>
                  <a:t>That means:</a:t>
                </a:r>
              </a:p>
              <a:p>
                <a:r>
                  <a:rPr lang="en-AU" dirty="0"/>
                  <a:t>Average multiplicative error ≈ </a:t>
                </a:r>
                <a:r>
                  <a:rPr lang="en-AU" b="1" dirty="0"/>
                  <a:t>31%</a:t>
                </a:r>
                <a:endParaRPr lang="en-AU" dirty="0"/>
              </a:p>
              <a:p>
                <a:r>
                  <a:rPr lang="en-AU" dirty="0"/>
                  <a:t>Interpretation:</a:t>
                </a:r>
              </a:p>
              <a:p>
                <a:r>
                  <a:rPr lang="en-AU" dirty="0"/>
                  <a:t>If actual cost = $10,000</a:t>
                </a:r>
                <a:br>
                  <a:rPr lang="en-AU" dirty="0"/>
                </a:br>
                <a:r>
                  <a:rPr lang="en-AU" dirty="0"/>
                  <a:t>Typical prediction range ≈ $7,600 – $13,100</a:t>
                </a:r>
              </a:p>
              <a:p>
                <a:r>
                  <a:rPr lang="en-AU" dirty="0"/>
                  <a:t>That is </a:t>
                </a:r>
                <a:r>
                  <a:rPr lang="en-AU" b="1" dirty="0"/>
                  <a:t>very reasonable for healthcare cost modelling</a:t>
                </a:r>
                <a:r>
                  <a:rPr lang="en-AU" dirty="0"/>
                  <a:t>.</a:t>
                </a:r>
              </a:p>
              <a:p>
                <a:endParaRPr lang="en-AU" dirty="0"/>
              </a:p>
            </p:txBody>
          </p:sp>
        </mc:Fallback>
      </mc:AlternateContent>
      <p:sp>
        <p:nvSpPr>
          <p:cNvPr id="4" name="Slide Number Placeholder 3"/>
          <p:cNvSpPr>
            <a:spLocks noGrp="1"/>
          </p:cNvSpPr>
          <p:nvPr>
            <p:ph type="sldNum" sz="quarter" idx="5"/>
          </p:nvPr>
        </p:nvSpPr>
        <p:spPr/>
        <p:txBody>
          <a:bodyPr/>
          <a:lstStyle/>
          <a:p>
            <a:fld id="{47421ADB-7536-4C0E-83E5-E56B7AA33775}" type="slidenum">
              <a:rPr lang="en-AU" smtClean="0"/>
              <a:t>26</a:t>
            </a:fld>
            <a:endParaRPr lang="en-AU"/>
          </a:p>
        </p:txBody>
      </p:sp>
    </p:spTree>
    <p:extLst>
      <p:ext uri="{BB962C8B-B14F-4D97-AF65-F5344CB8AC3E}">
        <p14:creationId xmlns:p14="http://schemas.microsoft.com/office/powerpoint/2010/main" val="1804547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How the Model Was Used to Detect Outliers</a:t>
            </a:r>
          </a:p>
          <a:p>
            <a:r>
              <a:rPr lang="en-AU" dirty="0"/>
              <a:t>A machine learning model (</a:t>
            </a:r>
            <a:r>
              <a:rPr lang="en-AU" dirty="0" err="1"/>
              <a:t>XGBoost</a:t>
            </a:r>
            <a:r>
              <a:rPr lang="en-AU" dirty="0"/>
              <a:t> with target encoding) was trained to predict expected hospital costs based on episode characteristics such as DRG, theatre utilisation, procedures, and length of stay.</a:t>
            </a:r>
          </a:p>
          <a:p>
            <a:r>
              <a:rPr lang="en-AU" dirty="0"/>
              <a:t>To ensure fairness and avoid bias, out-of-fold cross-validation was used. This means each episode’s expected cost was generated by a model that was not trained on that episode.</a:t>
            </a:r>
          </a:p>
          <a:p>
            <a:r>
              <a:rPr lang="en-AU" dirty="0"/>
              <a:t>For each case, we calculated:</a:t>
            </a:r>
          </a:p>
          <a:p>
            <a:r>
              <a:rPr lang="en-AU" b="1" dirty="0"/>
              <a:t>Expected cost</a:t>
            </a:r>
            <a:r>
              <a:rPr lang="en-AU" dirty="0"/>
              <a:t> (risk-adjusted prediction)</a:t>
            </a:r>
          </a:p>
          <a:p>
            <a:r>
              <a:rPr lang="en-AU" b="1" dirty="0"/>
              <a:t>Residual</a:t>
            </a:r>
            <a:r>
              <a:rPr lang="en-AU" dirty="0"/>
              <a:t> = Actual cost – Expected cost</a:t>
            </a:r>
          </a:p>
          <a:p>
            <a:r>
              <a:rPr lang="en-AU" b="1" dirty="0"/>
              <a:t>Standardised residual (Z-score)</a:t>
            </a:r>
            <a:r>
              <a:rPr lang="en-AU" dirty="0"/>
              <a:t> = Residual relative to model error</a:t>
            </a:r>
          </a:p>
          <a:p>
            <a:r>
              <a:rPr lang="en-AU" dirty="0"/>
              <a:t>Episodes were flagged as:</a:t>
            </a:r>
          </a:p>
          <a:p>
            <a:r>
              <a:rPr lang="en-AU" b="1" dirty="0"/>
              <a:t>Unusual</a:t>
            </a:r>
            <a:r>
              <a:rPr lang="en-AU" dirty="0"/>
              <a:t> if ≥ 2 standard deviations above expected cost</a:t>
            </a:r>
          </a:p>
          <a:p>
            <a:r>
              <a:rPr lang="en-AU" b="1" dirty="0"/>
              <a:t>Extreme</a:t>
            </a:r>
            <a:r>
              <a:rPr lang="en-AU" dirty="0"/>
              <a:t> if ≥ 3 standard deviations above expected cost</a:t>
            </a:r>
          </a:p>
          <a:p>
            <a:r>
              <a:rPr lang="en-AU" dirty="0"/>
              <a:t>This approach allows identification of cases that cost materially more than would be expected given their clinical complexity.</a:t>
            </a:r>
          </a:p>
          <a:p>
            <a:r>
              <a:rPr lang="en-AU" dirty="0"/>
              <a:t>In simple terms:</a:t>
            </a:r>
          </a:p>
          <a:p>
            <a:r>
              <a:rPr lang="en-AU" dirty="0"/>
              <a:t>The model establishes a risk-adjusted benchmark, and outliers are cases that significantly exceed that benchmark.</a:t>
            </a:r>
          </a:p>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29</a:t>
            </a:fld>
            <a:endParaRPr lang="en-AU"/>
          </a:p>
        </p:txBody>
      </p:sp>
    </p:spTree>
    <p:extLst>
      <p:ext uri="{BB962C8B-B14F-4D97-AF65-F5344CB8AC3E}">
        <p14:creationId xmlns:p14="http://schemas.microsoft.com/office/powerpoint/2010/main" val="2161968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Char char="-"/>
            </a:pPr>
            <a:r>
              <a:rPr lang="en-AU" dirty="0"/>
              <a:t>Low-cost episodes show strong model stability (&lt;1% extreme cases)</a:t>
            </a:r>
          </a:p>
          <a:p>
            <a:pPr>
              <a:buFontTx/>
              <a:buChar char="-"/>
            </a:pPr>
            <a:r>
              <a:rPr lang="en-AU" dirty="0"/>
              <a:t>Outlier rates increase with clinical complexity</a:t>
            </a:r>
          </a:p>
          <a:p>
            <a:pPr>
              <a:buFontTx/>
              <a:buChar char="-"/>
            </a:pPr>
            <a:r>
              <a:rPr lang="en-AU" dirty="0"/>
              <a:t>Very High segment: 7.42% extreme (≥3 SD), ~11x higher than Low segment</a:t>
            </a:r>
          </a:p>
          <a:p>
            <a:pPr>
              <a:buFontTx/>
              <a:buChar char="-"/>
            </a:pPr>
            <a:r>
              <a:rPr lang="en-AU" dirty="0"/>
              <a:t>86% of Very High cases remain within expected range</a:t>
            </a:r>
          </a:p>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30</a:t>
            </a:fld>
            <a:endParaRPr lang="en-AU"/>
          </a:p>
        </p:txBody>
      </p:sp>
    </p:spTree>
    <p:extLst>
      <p:ext uri="{BB962C8B-B14F-4D97-AF65-F5344CB8AC3E}">
        <p14:creationId xmlns:p14="http://schemas.microsoft.com/office/powerpoint/2010/main" val="3866985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35</a:t>
            </a:fld>
            <a:endParaRPr lang="en-AU"/>
          </a:p>
        </p:txBody>
      </p:sp>
    </p:spTree>
    <p:extLst>
      <p:ext uri="{BB962C8B-B14F-4D97-AF65-F5344CB8AC3E}">
        <p14:creationId xmlns:p14="http://schemas.microsoft.com/office/powerpoint/2010/main" val="2776512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1 Cost is influenced by contract pricing, not purely clinical intensity</a:t>
            </a:r>
          </a:p>
          <a:p>
            <a:r>
              <a:rPr lang="en-AU" b="1" dirty="0"/>
              <a:t>What this means:</a:t>
            </a:r>
            <a:endParaRPr lang="en-AU" dirty="0"/>
          </a:p>
          <a:p>
            <a:r>
              <a:rPr lang="en-AU" dirty="0"/>
              <a:t>Total hospital charges are not a perfect proxy for clinical complexity.</a:t>
            </a:r>
          </a:p>
          <a:p>
            <a:r>
              <a:rPr lang="en-AU" dirty="0"/>
              <a:t>Charges are affected by:</a:t>
            </a:r>
          </a:p>
          <a:p>
            <a:r>
              <a:rPr lang="en-AU" dirty="0"/>
              <a:t>Negotiated insurer-provider contracts</a:t>
            </a:r>
          </a:p>
          <a:p>
            <a:r>
              <a:rPr lang="en-AU" dirty="0"/>
              <a:t>Bundled pricing structures</a:t>
            </a:r>
          </a:p>
          <a:p>
            <a:r>
              <a:rPr lang="en-AU" dirty="0"/>
              <a:t>Prosthesis pricing agreements</a:t>
            </a:r>
          </a:p>
          <a:p>
            <a:r>
              <a:rPr lang="en-AU" dirty="0"/>
              <a:t>Facility fee differentials</a:t>
            </a:r>
          </a:p>
          <a:p>
            <a:r>
              <a:rPr lang="en-AU" dirty="0"/>
              <a:t>Private vs public pricing variation</a:t>
            </a:r>
          </a:p>
          <a:p>
            <a:r>
              <a:rPr lang="en-AU" dirty="0"/>
              <a:t>Two clinically identical episodes can have different charges due to commercial terms.</a:t>
            </a:r>
          </a:p>
          <a:p>
            <a:r>
              <a:rPr lang="en-AU" b="1" dirty="0"/>
              <a:t>Implication:</a:t>
            </a:r>
            <a:endParaRPr lang="en-AU" dirty="0"/>
          </a:p>
          <a:p>
            <a:r>
              <a:rPr lang="en-AU" dirty="0"/>
              <a:t>Some “outliers” may reflect pricing differences rather than inefficiency.</a:t>
            </a:r>
          </a:p>
          <a:p>
            <a:r>
              <a:rPr lang="en-AU" dirty="0"/>
              <a:t>Interpretation should consider contract context.</a:t>
            </a:r>
          </a:p>
          <a:p>
            <a:r>
              <a:rPr lang="en-AU" dirty="0"/>
              <a:t>Risk-adjusted expected cost does not fully isolate clinical intensity.</a:t>
            </a:r>
          </a:p>
          <a:p>
            <a:endParaRPr lang="en-AU" dirty="0"/>
          </a:p>
          <a:p>
            <a:r>
              <a:rPr lang="en-AU" dirty="0"/>
              <a:t>The model benchmarks financial performance, not clinical severity in isolation.</a:t>
            </a:r>
          </a:p>
          <a:p>
            <a:br>
              <a:rPr lang="en-AU" dirty="0"/>
            </a:br>
            <a:endParaRPr lang="en-AU" dirty="0"/>
          </a:p>
          <a:p>
            <a:r>
              <a:rPr lang="en-AU" b="1" dirty="0"/>
              <a:t>2 Dataset reflects historical billing patterns</a:t>
            </a:r>
          </a:p>
          <a:p>
            <a:r>
              <a:rPr lang="en-AU" b="1" dirty="0"/>
              <a:t>What this means:</a:t>
            </a:r>
            <a:endParaRPr lang="en-AU" dirty="0"/>
          </a:p>
          <a:p>
            <a:r>
              <a:rPr lang="en-AU" dirty="0"/>
              <a:t>The model is trained on past episodes.</a:t>
            </a:r>
          </a:p>
          <a:p>
            <a:r>
              <a:rPr lang="en-AU" dirty="0"/>
              <a:t>Therefore:</a:t>
            </a:r>
          </a:p>
          <a:p>
            <a:r>
              <a:rPr lang="en-AU" dirty="0"/>
              <a:t>It learns historical billing behaviour.</a:t>
            </a:r>
          </a:p>
          <a:p>
            <a:r>
              <a:rPr lang="en-AU" dirty="0"/>
              <a:t>It embeds existing practice patterns.</a:t>
            </a:r>
          </a:p>
          <a:p>
            <a:r>
              <a:rPr lang="en-AU" dirty="0"/>
              <a:t>It may reflect past inefficiencies.</a:t>
            </a:r>
          </a:p>
          <a:p>
            <a:r>
              <a:rPr lang="en-AU" dirty="0"/>
              <a:t>If historical patterns include systemic overcharging or undercharging,</a:t>
            </a:r>
            <a:br>
              <a:rPr lang="en-AU" dirty="0"/>
            </a:br>
            <a:r>
              <a:rPr lang="en-AU" dirty="0"/>
              <a:t>the model may normalise that behaviour.</a:t>
            </a:r>
          </a:p>
          <a:p>
            <a:r>
              <a:rPr lang="en-AU" b="1" dirty="0"/>
              <a:t>Implication:</a:t>
            </a:r>
            <a:endParaRPr lang="en-AU" dirty="0"/>
          </a:p>
          <a:p>
            <a:r>
              <a:rPr lang="en-AU" dirty="0"/>
              <a:t>Expected cost = historically typical cost, not necessarily optimal cost.</a:t>
            </a:r>
          </a:p>
          <a:p>
            <a:r>
              <a:rPr lang="en-AU" dirty="0"/>
              <a:t>The model supports benchmarking relative to current system behaviour.</a:t>
            </a:r>
          </a:p>
          <a:p>
            <a:endParaRPr lang="en-AU" dirty="0"/>
          </a:p>
          <a:p>
            <a:r>
              <a:rPr lang="en-AU" dirty="0"/>
              <a:t>The model establishes a data-driven baseline based on observed practice, not an ideal cost benchmark.</a:t>
            </a:r>
          </a:p>
          <a:p>
            <a:br>
              <a:rPr lang="en-AU" dirty="0"/>
            </a:br>
            <a:endParaRPr lang="en-AU" dirty="0"/>
          </a:p>
          <a:p>
            <a:r>
              <a:rPr lang="en-AU" b="1" dirty="0"/>
              <a:t>3 Quality metrics not fully incorporated (readmission validation pending)</a:t>
            </a:r>
          </a:p>
          <a:p>
            <a:r>
              <a:rPr lang="en-AU" b="1" dirty="0"/>
              <a:t>What this means:</a:t>
            </a:r>
            <a:endParaRPr lang="en-AU" dirty="0"/>
          </a:p>
          <a:p>
            <a:r>
              <a:rPr lang="en-AU" dirty="0"/>
              <a:t>The model predicts cost only.</a:t>
            </a:r>
          </a:p>
          <a:p>
            <a:r>
              <a:rPr lang="en-AU" dirty="0"/>
              <a:t>It does not directly account for:</a:t>
            </a:r>
          </a:p>
          <a:p>
            <a:r>
              <a:rPr lang="en-AU" dirty="0"/>
              <a:t>28-day readmission rates</a:t>
            </a:r>
          </a:p>
          <a:p>
            <a:r>
              <a:rPr lang="en-AU" dirty="0"/>
              <a:t>Complication rates</a:t>
            </a:r>
          </a:p>
          <a:p>
            <a:r>
              <a:rPr lang="en-AU" dirty="0"/>
              <a:t>Mortality</a:t>
            </a:r>
          </a:p>
          <a:p>
            <a:r>
              <a:rPr lang="en-AU" dirty="0"/>
              <a:t>Patient outcomes</a:t>
            </a:r>
          </a:p>
          <a:p>
            <a:r>
              <a:rPr lang="en-AU" dirty="0"/>
              <a:t>Clinical appropriateness</a:t>
            </a:r>
          </a:p>
          <a:p>
            <a:r>
              <a:rPr lang="en-AU" dirty="0"/>
              <a:t>Low-cost episodes could reflect:</a:t>
            </a:r>
          </a:p>
          <a:p>
            <a:r>
              <a:rPr lang="en-AU" dirty="0"/>
              <a:t>Efficiency</a:t>
            </a:r>
            <a:br>
              <a:rPr lang="en-AU" dirty="0"/>
            </a:br>
            <a:r>
              <a:rPr lang="en-AU" dirty="0"/>
              <a:t>or</a:t>
            </a:r>
          </a:p>
          <a:p>
            <a:r>
              <a:rPr lang="en-AU" dirty="0"/>
              <a:t>Premature discharge / under-treatment</a:t>
            </a:r>
          </a:p>
          <a:p>
            <a:r>
              <a:rPr lang="en-AU" dirty="0"/>
              <a:t>Without integrating outcome data, cost interpretation is incomplete.</a:t>
            </a:r>
          </a:p>
          <a:p>
            <a:r>
              <a:rPr lang="en-AU" b="1" dirty="0"/>
              <a:t>Implication:</a:t>
            </a:r>
            <a:endParaRPr lang="en-AU" dirty="0"/>
          </a:p>
          <a:p>
            <a:r>
              <a:rPr lang="en-AU" dirty="0"/>
              <a:t>Low-cost outliers must be validated against quality signals.</a:t>
            </a:r>
          </a:p>
          <a:p>
            <a:r>
              <a:rPr lang="en-AU" dirty="0"/>
              <a:t>Efficiency must not compromise patient safety.</a:t>
            </a:r>
          </a:p>
          <a:p>
            <a:r>
              <a:rPr lang="en-AU" b="1" dirty="0"/>
              <a:t>Executive framing:</a:t>
            </a:r>
            <a:endParaRPr lang="en-AU" dirty="0"/>
          </a:p>
          <a:p>
            <a:r>
              <a:rPr lang="en-AU" dirty="0"/>
              <a:t>Cost performance must be interpreted alongside clinical outcome indicators.</a:t>
            </a:r>
          </a:p>
          <a:p>
            <a:br>
              <a:rPr lang="en-AU" dirty="0"/>
            </a:br>
            <a:endParaRPr lang="en-AU" dirty="0"/>
          </a:p>
          <a:p>
            <a:r>
              <a:rPr lang="en-AU" b="1" dirty="0"/>
              <a:t>4 Predictive model supports oversight, not clinical decision-making</a:t>
            </a:r>
          </a:p>
          <a:p>
            <a:r>
              <a:rPr lang="en-AU" b="1" dirty="0"/>
              <a:t>What this means:</a:t>
            </a:r>
            <a:endParaRPr lang="en-AU" dirty="0"/>
          </a:p>
          <a:p>
            <a:r>
              <a:rPr lang="en-AU" dirty="0"/>
              <a:t>The model:</a:t>
            </a:r>
          </a:p>
          <a:p>
            <a:r>
              <a:rPr lang="en-AU" dirty="0"/>
              <a:t>Does not recommend treatment plans</a:t>
            </a:r>
          </a:p>
          <a:p>
            <a:r>
              <a:rPr lang="en-AU" dirty="0"/>
              <a:t>Does not evaluate clinical appropriateness</a:t>
            </a:r>
          </a:p>
          <a:p>
            <a:r>
              <a:rPr lang="en-AU" dirty="0"/>
              <a:t>Does not guide physician decision-making</a:t>
            </a:r>
          </a:p>
          <a:p>
            <a:r>
              <a:rPr lang="en-AU" dirty="0"/>
              <a:t>It provides:</a:t>
            </a:r>
          </a:p>
          <a:p>
            <a:r>
              <a:rPr lang="en-AU" dirty="0"/>
              <a:t>Financial benchmarking</a:t>
            </a:r>
          </a:p>
          <a:p>
            <a:r>
              <a:rPr lang="en-AU" dirty="0"/>
              <a:t>Risk-adjusted monitoring</a:t>
            </a:r>
          </a:p>
          <a:p>
            <a:r>
              <a:rPr lang="en-AU" dirty="0"/>
              <a:t>Governance insights</a:t>
            </a:r>
          </a:p>
          <a:p>
            <a:r>
              <a:rPr lang="en-AU" dirty="0"/>
              <a:t>It is a cost intelligence tool, not a clinical tool.</a:t>
            </a:r>
          </a:p>
          <a:p>
            <a:r>
              <a:rPr lang="en-AU" b="1" dirty="0"/>
              <a:t>Implication:</a:t>
            </a:r>
            <a:endParaRPr lang="en-AU" dirty="0"/>
          </a:p>
          <a:p>
            <a:r>
              <a:rPr lang="en-AU" dirty="0"/>
              <a:t>The model should not influence patient-level care decisions.</a:t>
            </a:r>
          </a:p>
          <a:p>
            <a:r>
              <a:rPr lang="en-AU" dirty="0"/>
              <a:t>It should inform contract review and operational oversight only.</a:t>
            </a:r>
          </a:p>
          <a:p>
            <a:endParaRPr lang="en-AU" dirty="0"/>
          </a:p>
        </p:txBody>
      </p:sp>
      <p:sp>
        <p:nvSpPr>
          <p:cNvPr id="4" name="Slide Number Placeholder 3"/>
          <p:cNvSpPr>
            <a:spLocks noGrp="1"/>
          </p:cNvSpPr>
          <p:nvPr>
            <p:ph type="sldNum" sz="quarter" idx="5"/>
          </p:nvPr>
        </p:nvSpPr>
        <p:spPr/>
        <p:txBody>
          <a:bodyPr/>
          <a:lstStyle/>
          <a:p>
            <a:fld id="{47421ADB-7536-4C0E-83E5-E56B7AA33775}" type="slidenum">
              <a:rPr lang="en-AU" smtClean="0"/>
              <a:t>37</a:t>
            </a:fld>
            <a:endParaRPr lang="en-AU"/>
          </a:p>
        </p:txBody>
      </p:sp>
    </p:spTree>
    <p:extLst>
      <p:ext uri="{BB962C8B-B14F-4D97-AF65-F5344CB8AC3E}">
        <p14:creationId xmlns:p14="http://schemas.microsoft.com/office/powerpoint/2010/main" val="1099780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AU" b="1" dirty="0"/>
                  <a:t>Step 1 Extract Relevant Numbers</a:t>
                </a:r>
              </a:p>
              <a:p>
                <a:r>
                  <a:rPr lang="en-AU" dirty="0"/>
                  <a:t>From summary:</a:t>
                </a:r>
              </a:p>
              <a:p>
                <a:r>
                  <a:rPr lang="en-AU" dirty="0"/>
                  <a:t>Very High segment:</a:t>
                </a:r>
              </a:p>
              <a:p>
                <a:r>
                  <a:rPr lang="en-AU" dirty="0"/>
                  <a:t>Episodes = </a:t>
                </a:r>
                <a:r>
                  <a:rPr lang="en-AU" b="1" dirty="0"/>
                  <a:t>1,510</a:t>
                </a:r>
                <a:endParaRPr lang="en-AU" dirty="0"/>
              </a:p>
              <a:p>
                <a:r>
                  <a:rPr lang="en-AU" dirty="0"/>
                  <a:t>Median cost = </a:t>
                </a:r>
                <a:r>
                  <a:rPr lang="en-AU" b="1" dirty="0"/>
                  <a:t>$1,723,100</a:t>
                </a:r>
                <a:endParaRPr lang="en-AU" dirty="0"/>
              </a:p>
              <a:p>
                <a:r>
                  <a:rPr lang="en-AU" dirty="0"/>
                  <a:t>Total revenue = </a:t>
                </a:r>
                <a:r>
                  <a:rPr lang="en-AU" b="1" dirty="0"/>
                  <a:t>$2,690,363,838</a:t>
                </a:r>
                <a:endParaRPr lang="en-AU" dirty="0"/>
              </a:p>
              <a:p>
                <a:r>
                  <a:rPr lang="en-AU" dirty="0"/>
                  <a:t>From your chart:</a:t>
                </a:r>
              </a:p>
              <a:p>
                <a:r>
                  <a:rPr lang="en-AU" dirty="0"/>
                  <a:t>Extreme (≥3 SD) = </a:t>
                </a:r>
                <a:r>
                  <a:rPr lang="en-AU" b="1" dirty="0"/>
                  <a:t>7.42%</a:t>
                </a:r>
                <a:endParaRPr lang="en-AU" dirty="0"/>
              </a:p>
              <a:p>
                <a:br>
                  <a:rPr lang="en-AU" dirty="0"/>
                </a:br>
                <a:endParaRPr lang="en-AU" dirty="0"/>
              </a:p>
              <a:p>
                <a:r>
                  <a:rPr lang="en-AU" b="1" dirty="0"/>
                  <a:t>Step 2 Calculate Number of Extreme Cases</a:t>
                </a:r>
                <a:r>
                  <a:rPr lang="en-AU" b="1" baseline="0" dirty="0"/>
                  <a:t> </a:t>
                </a:r>
                <a14:m>
                  <m:oMath xmlns:m="http://schemas.openxmlformats.org/officeDocument/2006/math">
                    <m:r>
                      <a:rPr lang="en-AU" sz="1200" kern="1200">
                        <a:solidFill>
                          <a:schemeClr val="tx1"/>
                        </a:solidFill>
                        <a:latin typeface="Cambria Math" panose="02040503050406030204" pitchFamily="18" charset="0"/>
                        <a:ea typeface="+mn-ea"/>
                        <a:cs typeface="+mn-cs"/>
                      </a:rPr>
                      <m:t>1</m:t>
                    </m:r>
                    <m:r>
                      <a:rPr lang="en-AU" sz="1200" i="0" kern="1200">
                        <a:solidFill>
                          <a:schemeClr val="tx1"/>
                        </a:solidFill>
                        <a:latin typeface="Cambria Math" panose="02040503050406030204" pitchFamily="18" charset="0"/>
                        <a:ea typeface="+mn-ea"/>
                        <a:cs typeface="+mn-cs"/>
                      </a:rPr>
                      <m:t>,510×7.42%≈112</m:t>
                    </m:r>
                    <m:r>
                      <m:rPr>
                        <m:nor/>
                      </m:rPr>
                      <a:rPr lang="en-AU" sz="1200" b="0" i="1" kern="1200">
                        <a:solidFill>
                          <a:schemeClr val="tx1"/>
                        </a:solidFill>
                        <a:latin typeface="+mn-lt"/>
                        <a:ea typeface="+mn-ea"/>
                        <a:cs typeface="+mn-cs"/>
                      </a:rPr>
                      <m:t> </m:t>
                    </m:r>
                    <m:r>
                      <m:rPr>
                        <m:nor/>
                      </m:rPr>
                      <a:rPr lang="en-AU" sz="1200" b="0" i="1" kern="1200">
                        <a:solidFill>
                          <a:schemeClr val="tx1"/>
                        </a:solidFill>
                        <a:latin typeface="+mn-lt"/>
                        <a:ea typeface="+mn-ea"/>
                        <a:cs typeface="+mn-cs"/>
                      </a:rPr>
                      <m:t>cases</m:t>
                    </m:r>
                  </m:oMath>
                </a14:m>
                <a:endParaRPr lang="en-AU" b="0" dirty="0"/>
              </a:p>
              <a:p>
                <a:r>
                  <a:rPr lang="en-AU" dirty="0"/>
                  <a:t>So approximately:</a:t>
                </a:r>
              </a:p>
              <a:p>
                <a:r>
                  <a:rPr lang="en-AU" b="1" dirty="0"/>
                  <a:t>~112 Very High extreme cases</a:t>
                </a:r>
                <a:endParaRPr lang="en-AU" dirty="0"/>
              </a:p>
              <a:p>
                <a:br>
                  <a:rPr lang="en-AU" dirty="0"/>
                </a:br>
                <a:endParaRPr lang="en-AU" dirty="0"/>
              </a:p>
              <a:p>
                <a:r>
                  <a:rPr lang="en-AU" b="1" dirty="0"/>
                  <a:t>Step 3 Estimate Excess Per Case</a:t>
                </a:r>
              </a:p>
              <a:p>
                <a:r>
                  <a:rPr lang="en-AU" dirty="0"/>
                  <a:t>We do not yet know exact excess per case, but we can estimate conservatively.</a:t>
                </a:r>
              </a:p>
              <a:p>
                <a:r>
                  <a:rPr lang="en-AU" dirty="0"/>
                  <a:t>Assume:</a:t>
                </a:r>
              </a:p>
              <a:p>
                <a:r>
                  <a:rPr lang="en-AU" dirty="0"/>
                  <a:t>Median cost = $1,723,100</a:t>
                </a:r>
              </a:p>
              <a:p>
                <a:r>
                  <a:rPr lang="en-AU" dirty="0"/>
                  <a:t>Extreme cases cost ~2× expected (conservative for ≥3 SD cases)</a:t>
                </a:r>
              </a:p>
              <a:p>
                <a:r>
                  <a:rPr lang="en-AU" dirty="0"/>
                  <a:t>Then:</a:t>
                </a:r>
              </a:p>
              <a:p>
                <a:r>
                  <a:rPr lang="en-AU" dirty="0"/>
                  <a:t>Expected cost ≈ $1,723,100</a:t>
                </a:r>
                <a:br>
                  <a:rPr lang="en-AU" dirty="0"/>
                </a:br>
                <a:r>
                  <a:rPr lang="en-AU" dirty="0"/>
                  <a:t>Actual cost ≈ $3,446,200</a:t>
                </a:r>
              </a:p>
              <a:p>
                <a:r>
                  <a:rPr lang="en-AU" dirty="0"/>
                  <a:t>Excess per case ≈ </a:t>
                </a:r>
                <a:r>
                  <a:rPr lang="en-AU" b="1" dirty="0"/>
                  <a:t>$1,723,100</a:t>
                </a:r>
                <a:endParaRPr lang="en-AU" dirty="0"/>
              </a:p>
              <a:p>
                <a:br>
                  <a:rPr lang="en-AU" dirty="0"/>
                </a:br>
                <a:endParaRPr lang="en-AU" dirty="0"/>
              </a:p>
              <a:p>
                <a:r>
                  <a:rPr lang="en-AU" b="1" dirty="0"/>
                  <a:t>Step 4 Estimate Exposure</a:t>
                </a:r>
                <a:r>
                  <a:rPr lang="en-AU" b="1" baseline="0" dirty="0"/>
                  <a:t> </a:t>
                </a:r>
                <a14:m>
                  <m:oMath xmlns:m="http://schemas.openxmlformats.org/officeDocument/2006/math">
                    <m:r>
                      <a:rPr lang="en-AU" sz="1200" kern="1200">
                        <a:solidFill>
                          <a:schemeClr val="tx1"/>
                        </a:solidFill>
                        <a:latin typeface="Cambria Math" panose="02040503050406030204" pitchFamily="18" charset="0"/>
                        <a:ea typeface="+mn-ea"/>
                        <a:cs typeface="+mn-cs"/>
                      </a:rPr>
                      <m:t>112</m:t>
                    </m:r>
                    <m:r>
                      <a:rPr lang="en-AU" sz="1200" i="0" kern="1200">
                        <a:solidFill>
                          <a:schemeClr val="tx1"/>
                        </a:solidFill>
                        <a:latin typeface="Cambria Math" panose="02040503050406030204" pitchFamily="18" charset="0"/>
                        <a:ea typeface="+mn-ea"/>
                        <a:cs typeface="+mn-cs"/>
                      </a:rPr>
                      <m:t>×1,723,100≈193</m:t>
                    </m:r>
                    <m:r>
                      <a:rPr lang="en-AU" sz="1200" i="1" kern="1200">
                        <a:solidFill>
                          <a:schemeClr val="tx1"/>
                        </a:solidFill>
                        <a:latin typeface="Cambria Math" panose="02040503050406030204" pitchFamily="18" charset="0"/>
                        <a:ea typeface="+mn-ea"/>
                        <a:cs typeface="+mn-cs"/>
                      </a:rPr>
                      <m:t>𝑀</m:t>
                    </m:r>
                  </m:oMath>
                </a14:m>
                <a:endParaRPr lang="en-AU" dirty="0"/>
              </a:p>
              <a:p>
                <a:r>
                  <a:rPr lang="en-AU" dirty="0"/>
                  <a:t>Potential exposure ≈ </a:t>
                </a:r>
                <a:r>
                  <a:rPr lang="en-AU" b="1" dirty="0"/>
                  <a:t>$190M+ in extreme Very High cases alone</a:t>
                </a:r>
                <a:endParaRPr lang="en-AU" dirty="0"/>
              </a:p>
              <a:p>
                <a:r>
                  <a:rPr lang="en-AU" dirty="0"/>
                  <a:t>Even if we assume only 50% of that difference is actionable</a:t>
                </a:r>
                <a:r>
                  <a:rPr lang="en-AU" baseline="0" dirty="0"/>
                  <a:t> </a:t>
                </a:r>
                <a14:m>
                  <m:oMath xmlns:m="http://schemas.openxmlformats.org/officeDocument/2006/math">
                    <m:r>
                      <m:rPr>
                        <m:nor/>
                      </m:rPr>
                      <a:rPr lang="en-AU" b="0"/>
                      <m:t> </m:t>
                    </m:r>
                    <m:r>
                      <a:rPr lang="en-AU" sz="1200" b="0" i="0" kern="1200">
                        <a:solidFill>
                          <a:schemeClr val="tx1"/>
                        </a:solidFill>
                        <a:latin typeface="Cambria Math" panose="02040503050406030204" pitchFamily="18" charset="0"/>
                        <a:ea typeface="+mn-ea"/>
                        <a:cs typeface="+mn-cs"/>
                      </a:rPr>
                      <m:t>$95</m:t>
                    </m:r>
                    <m:r>
                      <a:rPr lang="en-AU" sz="1200" b="0" i="1" kern="1200">
                        <a:solidFill>
                          <a:schemeClr val="tx1"/>
                        </a:solidFill>
                        <a:latin typeface="Cambria Math" panose="02040503050406030204" pitchFamily="18" charset="0"/>
                        <a:ea typeface="+mn-ea"/>
                        <a:cs typeface="+mn-cs"/>
                      </a:rPr>
                      <m:t>𝑀</m:t>
                    </m:r>
                  </m:oMath>
                </a14:m>
                <a:endParaRPr lang="en-AU" b="0" dirty="0"/>
              </a:p>
              <a:p>
                <a:r>
                  <a:rPr lang="en-AU" dirty="0"/>
                  <a:t>Still material.</a:t>
                </a:r>
              </a:p>
              <a:p>
                <a:br>
                  <a:rPr lang="en-AU" dirty="0"/>
                </a:br>
                <a:endParaRPr lang="en-AU" dirty="0"/>
              </a:p>
              <a:p>
                <a:r>
                  <a:rPr lang="en-AU" b="1" dirty="0"/>
                  <a:t>Step 5 Sensitivity Scenario</a:t>
                </a:r>
              </a:p>
              <a:p>
                <a:r>
                  <a:rPr lang="en-AU" dirty="0"/>
                  <a:t>If:</a:t>
                </a:r>
              </a:p>
              <a:p>
                <a:r>
                  <a:rPr lang="en-AU" dirty="0"/>
                  <a:t>A 5% reduction in extreme Very High cases</a:t>
                </a:r>
              </a:p>
              <a:p>
                <a:r>
                  <a:rPr lang="en-AU" dirty="0"/>
                  <a:t>That’s 6 cases prevented</a:t>
                </a:r>
                <a:r>
                  <a:rPr lang="en-AU" baseline="0" dirty="0"/>
                  <a:t> </a:t>
                </a:r>
                <a14:m>
                  <m:oMath xmlns:m="http://schemas.openxmlformats.org/officeDocument/2006/math">
                    <m:r>
                      <a:rPr lang="en-AU" sz="1200" kern="1200">
                        <a:solidFill>
                          <a:schemeClr val="tx1"/>
                        </a:solidFill>
                        <a:latin typeface="Cambria Math" panose="02040503050406030204" pitchFamily="18" charset="0"/>
                        <a:ea typeface="+mn-ea"/>
                        <a:cs typeface="+mn-cs"/>
                      </a:rPr>
                      <m:t>6</m:t>
                    </m:r>
                    <m:r>
                      <a:rPr lang="en-AU" sz="1200" i="0" kern="1200">
                        <a:solidFill>
                          <a:schemeClr val="tx1"/>
                        </a:solidFill>
                        <a:latin typeface="Cambria Math" panose="02040503050406030204" pitchFamily="18" charset="0"/>
                        <a:ea typeface="+mn-ea"/>
                        <a:cs typeface="+mn-cs"/>
                      </a:rPr>
                      <m:t>×1.7</m:t>
                    </m:r>
                    <m:r>
                      <a:rPr lang="en-AU" sz="1200" i="1" kern="1200">
                        <a:solidFill>
                          <a:schemeClr val="tx1"/>
                        </a:solidFill>
                        <a:latin typeface="Cambria Math" panose="02040503050406030204" pitchFamily="18" charset="0"/>
                        <a:ea typeface="+mn-ea"/>
                        <a:cs typeface="+mn-cs"/>
                      </a:rPr>
                      <m:t>𝑀</m:t>
                    </m:r>
                    <m:r>
                      <a:rPr lang="en-AU" sz="1200" i="0" kern="1200">
                        <a:solidFill>
                          <a:schemeClr val="tx1"/>
                        </a:solidFill>
                        <a:latin typeface="Cambria Math" panose="02040503050406030204" pitchFamily="18" charset="0"/>
                        <a:ea typeface="+mn-ea"/>
                        <a:cs typeface="+mn-cs"/>
                      </a:rPr>
                      <m:t>≈10</m:t>
                    </m:r>
                    <m:r>
                      <a:rPr lang="en-AU" sz="1200" i="1" kern="1200">
                        <a:solidFill>
                          <a:schemeClr val="tx1"/>
                        </a:solidFill>
                        <a:latin typeface="Cambria Math" panose="02040503050406030204" pitchFamily="18" charset="0"/>
                        <a:ea typeface="+mn-ea"/>
                        <a:cs typeface="+mn-cs"/>
                      </a:rPr>
                      <m:t>𝑀</m:t>
                    </m:r>
                  </m:oMath>
                </a14:m>
                <a:endParaRPr lang="en-AU" dirty="0"/>
              </a:p>
              <a:p>
                <a:r>
                  <a:rPr lang="en-AU" dirty="0"/>
                  <a:t>~$10M potential protection from a 5% improvement.</a:t>
                </a:r>
              </a:p>
              <a:p>
                <a:endParaRPr lang="en-AU" dirty="0"/>
              </a:p>
            </p:txBody>
          </p:sp>
        </mc:Choice>
        <mc:Fallback xmlns="">
          <p:sp>
            <p:nvSpPr>
              <p:cNvPr id="3" name="Notes Placeholder 2"/>
              <p:cNvSpPr>
                <a:spLocks noGrp="1"/>
              </p:cNvSpPr>
              <p:nvPr>
                <p:ph type="body" idx="1"/>
              </p:nvPr>
            </p:nvSpPr>
            <p:spPr/>
            <p:txBody>
              <a:bodyPr/>
              <a:lstStyle/>
              <a:p>
                <a:r>
                  <a:rPr lang="en-AU" b="1" dirty="0"/>
                  <a:t>Step 1 Extract Relevant Numbers</a:t>
                </a:r>
              </a:p>
              <a:p>
                <a:r>
                  <a:rPr lang="en-AU" dirty="0"/>
                  <a:t>From summary:</a:t>
                </a:r>
              </a:p>
              <a:p>
                <a:r>
                  <a:rPr lang="en-AU" dirty="0"/>
                  <a:t>Very High segment:</a:t>
                </a:r>
              </a:p>
              <a:p>
                <a:r>
                  <a:rPr lang="en-AU" dirty="0"/>
                  <a:t>Episodes = </a:t>
                </a:r>
                <a:r>
                  <a:rPr lang="en-AU" b="1" dirty="0"/>
                  <a:t>1,510</a:t>
                </a:r>
                <a:endParaRPr lang="en-AU" dirty="0"/>
              </a:p>
              <a:p>
                <a:r>
                  <a:rPr lang="en-AU" dirty="0"/>
                  <a:t>Median cost = </a:t>
                </a:r>
                <a:r>
                  <a:rPr lang="en-AU" b="1" dirty="0"/>
                  <a:t>$1,723,100</a:t>
                </a:r>
                <a:endParaRPr lang="en-AU" dirty="0"/>
              </a:p>
              <a:p>
                <a:r>
                  <a:rPr lang="en-AU" dirty="0"/>
                  <a:t>Total revenue = </a:t>
                </a:r>
                <a:r>
                  <a:rPr lang="en-AU" b="1" dirty="0"/>
                  <a:t>$2,690,363,838</a:t>
                </a:r>
                <a:endParaRPr lang="en-AU" dirty="0"/>
              </a:p>
              <a:p>
                <a:r>
                  <a:rPr lang="en-AU" dirty="0"/>
                  <a:t>From your chart:</a:t>
                </a:r>
              </a:p>
              <a:p>
                <a:r>
                  <a:rPr lang="en-AU" dirty="0"/>
                  <a:t>Extreme (≥3 SD) = </a:t>
                </a:r>
                <a:r>
                  <a:rPr lang="en-AU" b="1" dirty="0"/>
                  <a:t>7.42%</a:t>
                </a:r>
                <a:endParaRPr lang="en-AU" dirty="0"/>
              </a:p>
              <a:p>
                <a:br>
                  <a:rPr lang="en-AU" dirty="0"/>
                </a:br>
                <a:endParaRPr lang="en-AU" dirty="0"/>
              </a:p>
              <a:p>
                <a:r>
                  <a:rPr lang="en-AU" b="1" dirty="0"/>
                  <a:t>Step 2 Calculate Number of Extreme Cases</a:t>
                </a:r>
                <a:r>
                  <a:rPr lang="en-AU" b="1" baseline="0" dirty="0"/>
                  <a:t> </a:t>
                </a:r>
                <a:r>
                  <a:rPr lang="en-AU" sz="1200" i="0" kern="1200">
                    <a:solidFill>
                      <a:schemeClr val="tx1"/>
                    </a:solidFill>
                    <a:latin typeface="+mn-lt"/>
                    <a:ea typeface="+mn-ea"/>
                    <a:cs typeface="+mn-cs"/>
                  </a:rPr>
                  <a:t>1,510×7.42%≈112</a:t>
                </a:r>
                <a:r>
                  <a:rPr lang="en-AU" sz="1200" b="0" i="0" kern="1200">
                    <a:solidFill>
                      <a:schemeClr val="tx1"/>
                    </a:solidFill>
                    <a:latin typeface="Cambria Math" panose="02040503050406030204" pitchFamily="18" charset="0"/>
                    <a:ea typeface="+mn-ea"/>
                    <a:cs typeface="+mn-cs"/>
                  </a:rPr>
                  <a:t>" cases</a:t>
                </a:r>
                <a:r>
                  <a:rPr lang="en-AU" sz="1200" b="0" i="0" kern="1200">
                    <a:solidFill>
                      <a:schemeClr val="tx1"/>
                    </a:solidFill>
                    <a:latin typeface="+mn-lt"/>
                    <a:ea typeface="+mn-ea"/>
                    <a:cs typeface="+mn-cs"/>
                  </a:rPr>
                  <a:t>"</a:t>
                </a:r>
                <a:endParaRPr lang="en-AU" b="0" dirty="0"/>
              </a:p>
              <a:p>
                <a:r>
                  <a:rPr lang="en-AU" dirty="0"/>
                  <a:t>So approximately:</a:t>
                </a:r>
              </a:p>
              <a:p>
                <a:r>
                  <a:rPr lang="en-AU" b="1" dirty="0"/>
                  <a:t>~112 Very High extreme cases</a:t>
                </a:r>
                <a:endParaRPr lang="en-AU" dirty="0"/>
              </a:p>
              <a:p>
                <a:br>
                  <a:rPr lang="en-AU" dirty="0"/>
                </a:br>
                <a:endParaRPr lang="en-AU" dirty="0"/>
              </a:p>
              <a:p>
                <a:r>
                  <a:rPr lang="en-AU" b="1" dirty="0"/>
                  <a:t>Step 3 Estimate Excess Per Case</a:t>
                </a:r>
              </a:p>
              <a:p>
                <a:r>
                  <a:rPr lang="en-AU" dirty="0"/>
                  <a:t>We do not yet know exact excess per case, but we can estimate conservatively.</a:t>
                </a:r>
              </a:p>
              <a:p>
                <a:r>
                  <a:rPr lang="en-AU" dirty="0"/>
                  <a:t>Assume:</a:t>
                </a:r>
              </a:p>
              <a:p>
                <a:r>
                  <a:rPr lang="en-AU" dirty="0"/>
                  <a:t>Median cost = $1,723,100</a:t>
                </a:r>
              </a:p>
              <a:p>
                <a:r>
                  <a:rPr lang="en-AU" dirty="0"/>
                  <a:t>Extreme cases cost ~2× expected (conservative for ≥3 SD cases)</a:t>
                </a:r>
              </a:p>
              <a:p>
                <a:r>
                  <a:rPr lang="en-AU" dirty="0"/>
                  <a:t>Then:</a:t>
                </a:r>
              </a:p>
              <a:p>
                <a:r>
                  <a:rPr lang="en-AU" dirty="0"/>
                  <a:t>Expected cost ≈ $1,723,100</a:t>
                </a:r>
                <a:br>
                  <a:rPr lang="en-AU" dirty="0"/>
                </a:br>
                <a:r>
                  <a:rPr lang="en-AU" dirty="0"/>
                  <a:t>Actual cost ≈ $3,446,200</a:t>
                </a:r>
              </a:p>
              <a:p>
                <a:r>
                  <a:rPr lang="en-AU" dirty="0"/>
                  <a:t>Excess per case ≈ </a:t>
                </a:r>
                <a:r>
                  <a:rPr lang="en-AU" b="1" dirty="0"/>
                  <a:t>$1,723,100</a:t>
                </a:r>
                <a:endParaRPr lang="en-AU" dirty="0"/>
              </a:p>
              <a:p>
                <a:br>
                  <a:rPr lang="en-AU" dirty="0"/>
                </a:br>
                <a:endParaRPr lang="en-AU" dirty="0"/>
              </a:p>
              <a:p>
                <a:r>
                  <a:rPr lang="en-AU" b="1" dirty="0"/>
                  <a:t>Step 4 Estimate Exposure</a:t>
                </a:r>
                <a:r>
                  <a:rPr lang="en-AU" b="1" baseline="0" dirty="0"/>
                  <a:t> </a:t>
                </a:r>
                <a:r>
                  <a:rPr lang="en-AU" sz="1200" i="0" kern="1200">
                    <a:solidFill>
                      <a:schemeClr val="tx1"/>
                    </a:solidFill>
                    <a:latin typeface="+mn-lt"/>
                    <a:ea typeface="+mn-ea"/>
                    <a:cs typeface="+mn-cs"/>
                  </a:rPr>
                  <a:t>112×1,723,100≈193𝑀</a:t>
                </a:r>
                <a:endParaRPr lang="en-AU" dirty="0"/>
              </a:p>
              <a:p>
                <a:r>
                  <a:rPr lang="en-AU" dirty="0"/>
                  <a:t>Potential exposure ≈ </a:t>
                </a:r>
                <a:r>
                  <a:rPr lang="en-AU" b="1" dirty="0"/>
                  <a:t>$190M+ in extreme Very High cases alone</a:t>
                </a:r>
                <a:endParaRPr lang="en-AU" dirty="0"/>
              </a:p>
              <a:p>
                <a:r>
                  <a:rPr lang="en-AU" dirty="0"/>
                  <a:t>Even if we assume only 50% of that difference is actionable</a:t>
                </a:r>
                <a:r>
                  <a:rPr lang="en-AU" baseline="0" dirty="0"/>
                  <a:t> </a:t>
                </a:r>
                <a:r>
                  <a:rPr lang="en-AU" b="0" i="0">
                    <a:latin typeface="Cambria Math" panose="02040503050406030204" pitchFamily="18" charset="0"/>
                  </a:rPr>
                  <a:t>" </a:t>
                </a:r>
                <a:r>
                  <a:rPr lang="en-AU" sz="1200" b="0" i="0" kern="1200">
                    <a:solidFill>
                      <a:schemeClr val="tx1"/>
                    </a:solidFill>
                    <a:latin typeface="+mn-lt"/>
                    <a:ea typeface="+mn-ea"/>
                    <a:cs typeface="+mn-cs"/>
                  </a:rPr>
                  <a:t>" $95𝑀</a:t>
                </a:r>
                <a:endParaRPr lang="en-AU" b="0" dirty="0"/>
              </a:p>
              <a:p>
                <a:r>
                  <a:rPr lang="en-AU" dirty="0"/>
                  <a:t>Still material.</a:t>
                </a:r>
              </a:p>
              <a:p>
                <a:br>
                  <a:rPr lang="en-AU" dirty="0"/>
                </a:br>
                <a:endParaRPr lang="en-AU" dirty="0"/>
              </a:p>
              <a:p>
                <a:r>
                  <a:rPr lang="en-AU" b="1" dirty="0"/>
                  <a:t>Step 5 Sensitivity Scenario</a:t>
                </a:r>
              </a:p>
              <a:p>
                <a:r>
                  <a:rPr lang="en-AU" dirty="0"/>
                  <a:t>If:</a:t>
                </a:r>
              </a:p>
              <a:p>
                <a:r>
                  <a:rPr lang="en-AU" dirty="0"/>
                  <a:t>A 5% reduction in extreme Very High cases</a:t>
                </a:r>
              </a:p>
              <a:p>
                <a:r>
                  <a:rPr lang="en-AU" dirty="0"/>
                  <a:t>That’s 6 cases prevented</a:t>
                </a:r>
                <a:r>
                  <a:rPr lang="en-AU" baseline="0" dirty="0"/>
                  <a:t> </a:t>
                </a:r>
                <a:r>
                  <a:rPr lang="en-AU" sz="1200" i="0" kern="1200">
                    <a:solidFill>
                      <a:schemeClr val="tx1"/>
                    </a:solidFill>
                    <a:latin typeface="+mn-lt"/>
                    <a:ea typeface="+mn-ea"/>
                    <a:cs typeface="+mn-cs"/>
                  </a:rPr>
                  <a:t>6×1.7𝑀≈10𝑀</a:t>
                </a:r>
                <a:endParaRPr lang="en-AU" dirty="0"/>
              </a:p>
              <a:p>
                <a:r>
                  <a:rPr lang="en-AU" dirty="0"/>
                  <a:t>~$10M potential protection from a 5% improvement.</a:t>
                </a:r>
              </a:p>
              <a:p>
                <a:endParaRPr lang="en-AU" dirty="0"/>
              </a:p>
            </p:txBody>
          </p:sp>
        </mc:Fallback>
      </mc:AlternateContent>
      <p:sp>
        <p:nvSpPr>
          <p:cNvPr id="4" name="Slide Number Placeholder 3"/>
          <p:cNvSpPr>
            <a:spLocks noGrp="1"/>
          </p:cNvSpPr>
          <p:nvPr>
            <p:ph type="sldNum" sz="quarter" idx="5"/>
          </p:nvPr>
        </p:nvSpPr>
        <p:spPr/>
        <p:txBody>
          <a:bodyPr/>
          <a:lstStyle/>
          <a:p>
            <a:fld id="{47421ADB-7536-4C0E-83E5-E56B7AA33775}" type="slidenum">
              <a:rPr lang="en-AU" smtClean="0"/>
              <a:t>38</a:t>
            </a:fld>
            <a:endParaRPr lang="en-AU"/>
          </a:p>
        </p:txBody>
      </p:sp>
    </p:spTree>
    <p:extLst>
      <p:ext uri="{BB962C8B-B14F-4D97-AF65-F5344CB8AC3E}">
        <p14:creationId xmlns:p14="http://schemas.microsoft.com/office/powerpoint/2010/main" val="2131080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8657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206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a:lstStyle/>
          <a:p>
            <a:endParaRPr lang="en-AU"/>
          </a:p>
        </p:txBody>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3561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8950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2/13/2026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6242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2/13/2026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1443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2/13/2026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9288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7047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7418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8613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8974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59308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108069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7808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65125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2953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Title Slide with Image 2">
    <p:bg>
      <p:bgPr>
        <a:blipFill dpi="0" rotWithShape="1">
          <a:blip r:embed="rId2">
            <a:lum/>
          </a:blip>
          <a:srcRect/>
          <a:stretch>
            <a:fillRect l="-2000" b="-9000"/>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99B4DB3-5954-3A4F-BC59-C6B386594B5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2779517"/>
            <a:ext cx="9144000" cy="4078485"/>
          </a:xfrm>
          <a:prstGeom prst="rect">
            <a:avLst/>
          </a:prstGeom>
        </p:spPr>
      </p:pic>
      <p:pic>
        <p:nvPicPr>
          <p:cNvPr id="10" name="Picture 9">
            <a:extLst>
              <a:ext uri="{FF2B5EF4-FFF2-40B4-BE49-F238E27FC236}">
                <a16:creationId xmlns:a16="http://schemas.microsoft.com/office/drawing/2014/main" id="{7762F3AB-9F77-5E42-99D5-FA73EEA8DE9E}"/>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845514"/>
            <a:ext cx="4743255" cy="5012487"/>
          </a:xfrm>
          <a:prstGeom prst="rect">
            <a:avLst/>
          </a:prstGeom>
        </p:spPr>
      </p:pic>
      <p:sp>
        <p:nvSpPr>
          <p:cNvPr id="2" name="TextBox 1">
            <a:extLst>
              <a:ext uri="{FF2B5EF4-FFF2-40B4-BE49-F238E27FC236}">
                <a16:creationId xmlns:a16="http://schemas.microsoft.com/office/drawing/2014/main" id="{05BBCA97-12E1-F245-8C2B-8410FD02F179}"/>
              </a:ext>
            </a:extLst>
          </p:cNvPr>
          <p:cNvSpPr txBox="1"/>
          <p:nvPr userDrawn="1"/>
        </p:nvSpPr>
        <p:spPr>
          <a:xfrm>
            <a:off x="8821711" y="1761344"/>
            <a:ext cx="0" cy="0"/>
          </a:xfrm>
          <a:prstGeom prst="rect">
            <a:avLst/>
          </a:prstGeom>
        </p:spPr>
        <p:txBody>
          <a:bodyPr vert="horz" wrap="none" lIns="68580" tIns="34290" rIns="68580" bIns="34290" rtlCol="0">
            <a:normAutofit fontScale="25000" lnSpcReduction="20000"/>
          </a:bodyPr>
          <a:lstStyle/>
          <a:p>
            <a:pPr marL="0" indent="0" algn="l">
              <a:buNone/>
            </a:pPr>
            <a:endParaRPr lang="en-US" sz="825" dirty="0"/>
          </a:p>
        </p:txBody>
      </p:sp>
      <p:sp>
        <p:nvSpPr>
          <p:cNvPr id="12" name="Title 1">
            <a:extLst>
              <a:ext uri="{FF2B5EF4-FFF2-40B4-BE49-F238E27FC236}">
                <a16:creationId xmlns:a16="http://schemas.microsoft.com/office/drawing/2014/main" id="{86749FF7-7B45-AE4B-AB8F-3B7F34938792}"/>
              </a:ext>
            </a:extLst>
          </p:cNvPr>
          <p:cNvSpPr>
            <a:spLocks noGrp="1"/>
          </p:cNvSpPr>
          <p:nvPr>
            <p:ph type="ctrTitle"/>
          </p:nvPr>
        </p:nvSpPr>
        <p:spPr>
          <a:xfrm>
            <a:off x="406582" y="2390986"/>
            <a:ext cx="3805657" cy="2310879"/>
          </a:xfrm>
        </p:spPr>
        <p:txBody>
          <a:bodyPr tIns="0" bIns="0" anchor="b">
            <a:normAutofit/>
          </a:bodyPr>
          <a:lstStyle>
            <a:lvl1pPr algn="l">
              <a:defRPr sz="2700" b="0" i="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
        <p:nvSpPr>
          <p:cNvPr id="13" name="Subtitle 2">
            <a:extLst>
              <a:ext uri="{FF2B5EF4-FFF2-40B4-BE49-F238E27FC236}">
                <a16:creationId xmlns:a16="http://schemas.microsoft.com/office/drawing/2014/main" id="{E6F18DFB-F8A5-5C40-B888-5C837C900602}"/>
              </a:ext>
            </a:extLst>
          </p:cNvPr>
          <p:cNvSpPr>
            <a:spLocks noGrp="1"/>
          </p:cNvSpPr>
          <p:nvPr>
            <p:ph type="subTitle" idx="1" hasCustomPrompt="1"/>
          </p:nvPr>
        </p:nvSpPr>
        <p:spPr>
          <a:xfrm>
            <a:off x="406582" y="4983302"/>
            <a:ext cx="3648584" cy="279400"/>
          </a:xfrm>
        </p:spPr>
        <p:txBody>
          <a:bodyPr tIns="0" bIns="0"/>
          <a:lstStyle>
            <a:lvl1pPr marL="0" indent="0" algn="l">
              <a:buNone/>
              <a:defRPr sz="1350">
                <a:solidFill>
                  <a:schemeClr val="tx1"/>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Sub heading style</a:t>
            </a:r>
          </a:p>
        </p:txBody>
      </p:sp>
      <p:sp>
        <p:nvSpPr>
          <p:cNvPr id="14" name="Text Placeholder 7">
            <a:extLst>
              <a:ext uri="{FF2B5EF4-FFF2-40B4-BE49-F238E27FC236}">
                <a16:creationId xmlns:a16="http://schemas.microsoft.com/office/drawing/2014/main" id="{DB8575C1-D67C-6F47-B1D6-50D7C73A4778}"/>
              </a:ext>
            </a:extLst>
          </p:cNvPr>
          <p:cNvSpPr>
            <a:spLocks noGrp="1"/>
          </p:cNvSpPr>
          <p:nvPr>
            <p:ph type="body" sz="quarter" idx="12"/>
          </p:nvPr>
        </p:nvSpPr>
        <p:spPr>
          <a:xfrm>
            <a:off x="406582" y="5544141"/>
            <a:ext cx="2111375" cy="279400"/>
          </a:xfrm>
        </p:spPr>
        <p:txBody>
          <a:bodyPr tIns="0" bIns="0" anchor="t" anchorCtr="0"/>
          <a:lstStyle>
            <a:lvl1pPr marL="0" indent="0">
              <a:buFont typeface="Arial" panose="020B0604020202020204" pitchFamily="34" charset="0"/>
              <a:buNone/>
              <a:defRPr sz="675">
                <a:solidFill>
                  <a:schemeClr val="tx1"/>
                </a:solidFill>
              </a:defRPr>
            </a:lvl1pPr>
            <a:lvl2pPr>
              <a:defRPr sz="675"/>
            </a:lvl2pPr>
            <a:lvl3pPr>
              <a:defRPr sz="675"/>
            </a:lvl3pPr>
            <a:lvl4pPr>
              <a:defRPr sz="675"/>
            </a:lvl4pPr>
            <a:lvl5pPr>
              <a:defRPr sz="675"/>
            </a:lvl5pPr>
          </a:lstStyle>
          <a:p>
            <a:pPr lvl="0"/>
            <a:r>
              <a:rPr lang="en-US"/>
              <a:t>Edit Master text styles</a:t>
            </a:r>
          </a:p>
        </p:txBody>
      </p:sp>
      <p:sp>
        <p:nvSpPr>
          <p:cNvPr id="15" name="Slide Number Placeholder 23">
            <a:extLst>
              <a:ext uri="{FF2B5EF4-FFF2-40B4-BE49-F238E27FC236}">
                <a16:creationId xmlns:a16="http://schemas.microsoft.com/office/drawing/2014/main" id="{B28910EC-58D5-8B41-A685-1F0E81E8C912}"/>
              </a:ext>
            </a:extLst>
          </p:cNvPr>
          <p:cNvSpPr txBox="1">
            <a:spLocks/>
          </p:cNvSpPr>
          <p:nvPr userDrawn="1"/>
        </p:nvSpPr>
        <p:spPr>
          <a:xfrm>
            <a:off x="313101" y="6341901"/>
            <a:ext cx="4649838" cy="279401"/>
          </a:xfrm>
          <a:prstGeom prst="rect">
            <a:avLst/>
          </a:prstGeom>
        </p:spPr>
        <p:txBody>
          <a:bodyPr vert="horz" lIns="68580" tIns="34290" rIns="68580" bIns="34290" rtlCol="0" anchor="b" anchorCtr="0"/>
          <a:lstStyle>
            <a:defPPr>
              <a:defRPr lang="en-US"/>
            </a:defPPr>
            <a:lvl1pPr marL="0" algn="l" defTabSz="914400" rtl="0" eaLnBrk="1" latinLnBrk="0" hangingPunct="1">
              <a:defRPr sz="1200" b="0" i="0" kern="1200">
                <a:solidFill>
                  <a:schemeClr val="tx1"/>
                </a:solidFill>
                <a:latin typeface="Georgia" panose="02040502050405020303" pitchFamily="18"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AU" sz="675" b="0" i="1" kern="1200" dirty="0">
                <a:solidFill>
                  <a:schemeClr val="tx1"/>
                </a:solidFill>
                <a:effectLst/>
                <a:latin typeface="Georgia" panose="02040502050405020303" pitchFamily="18" charset="0"/>
                <a:ea typeface="+mn-ea"/>
                <a:cs typeface="+mn-cs"/>
              </a:rPr>
              <a:t>Hospitality  |  Compassion  |  Respect  |  Justice  |  Excellence</a:t>
            </a:r>
          </a:p>
        </p:txBody>
      </p:sp>
      <p:pic>
        <p:nvPicPr>
          <p:cNvPr id="16" name="Picture 15">
            <a:extLst>
              <a:ext uri="{FF2B5EF4-FFF2-40B4-BE49-F238E27FC236}">
                <a16:creationId xmlns:a16="http://schemas.microsoft.com/office/drawing/2014/main" id="{4F7D21CE-2143-8C46-AA49-BE9EED77CA17}"/>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6368835" y="5683841"/>
            <a:ext cx="2201349" cy="1031516"/>
          </a:xfrm>
          <a:prstGeom prst="rect">
            <a:avLst/>
          </a:prstGeom>
        </p:spPr>
      </p:pic>
    </p:spTree>
    <p:extLst>
      <p:ext uri="{BB962C8B-B14F-4D97-AF65-F5344CB8AC3E}">
        <p14:creationId xmlns:p14="http://schemas.microsoft.com/office/powerpoint/2010/main" val="3585815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AU"/>
            </a:p>
          </p:txBody>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AU"/>
            </a:p>
          </p:txBody>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AU"/>
            </a:p>
          </p:txBody>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AU"/>
            </a:p>
          </p:txBody>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AU"/>
            </a:p>
          </p:txBody>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AU"/>
            </a:p>
          </p:txBody>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AU"/>
            </a:p>
          </p:txBody>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AU"/>
            </a:p>
          </p:txBody>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AU"/>
            </a:p>
          </p:txBody>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AU"/>
            </a:p>
          </p:txBody>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AU"/>
            </a:p>
          </p:txBody>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AU"/>
            </a:p>
          </p:txBody>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AU"/>
            </a:p>
          </p:txBody>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AU"/>
            </a:p>
          </p:txBody>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AU"/>
            </a:p>
          </p:txBody>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AU"/>
            </a:p>
          </p:txBody>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AU"/>
            </a:p>
          </p:txBody>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AU"/>
            </a:p>
          </p:txBody>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AU"/>
            </a:p>
          </p:txBody>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AU"/>
            </a:p>
          </p:txBody>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AU"/>
            </a:p>
          </p:txBody>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AU"/>
            </a:p>
          </p:txBody>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AU"/>
            </a:p>
          </p:txBody>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AU"/>
            </a:p>
          </p:txBody>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2/13/2026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57857549"/>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660"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71049-D602-C649-A192-CBCBA04547C4}"/>
              </a:ext>
            </a:extLst>
          </p:cNvPr>
          <p:cNvSpPr>
            <a:spLocks noGrp="1"/>
          </p:cNvSpPr>
          <p:nvPr>
            <p:ph type="title"/>
          </p:nvPr>
        </p:nvSpPr>
        <p:spPr/>
        <p:txBody>
          <a:bodyPr anchor="t">
            <a:normAutofit/>
          </a:bodyPr>
          <a:lstStyle/>
          <a:p>
            <a:r>
              <a:rPr lang="en-AU" b="1"/>
              <a:t>Data Scientist Case Study – Milo Joronen</a:t>
            </a:r>
            <a:endParaRPr lang="en-US" b="1"/>
          </a:p>
        </p:txBody>
      </p:sp>
      <p:sp>
        <p:nvSpPr>
          <p:cNvPr id="3" name="Subtitle 2">
            <a:extLst>
              <a:ext uri="{FF2B5EF4-FFF2-40B4-BE49-F238E27FC236}">
                <a16:creationId xmlns:a16="http://schemas.microsoft.com/office/drawing/2014/main" id="{8B6472BC-4AD9-9B41-9A7B-3F42E3F5F1DA}"/>
              </a:ext>
            </a:extLst>
          </p:cNvPr>
          <p:cNvSpPr>
            <a:spLocks noGrp="1"/>
          </p:cNvSpPr>
          <p:nvPr>
            <p:ph type="body" idx="1"/>
          </p:nvPr>
        </p:nvSpPr>
        <p:spPr/>
        <p:txBody>
          <a:bodyPr anchor="b">
            <a:normAutofit/>
          </a:bodyPr>
          <a:lstStyle/>
          <a:p>
            <a:r>
              <a:rPr lang="en-US" dirty="0"/>
              <a:t>February 2026</a:t>
            </a:r>
          </a:p>
        </p:txBody>
      </p:sp>
    </p:spTree>
    <p:extLst>
      <p:ext uri="{BB962C8B-B14F-4D97-AF65-F5344CB8AC3E}">
        <p14:creationId xmlns:p14="http://schemas.microsoft.com/office/powerpoint/2010/main" val="680620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160C-80C8-AA9E-BE4C-EF2F92A51F69}"/>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E045EEBA-7279-E61E-2849-F29189649090}"/>
              </a:ext>
            </a:extLst>
          </p:cNvPr>
          <p:cNvSpPr>
            <a:spLocks noGrp="1"/>
          </p:cNvSpPr>
          <p:nvPr>
            <p:ph idx="1"/>
          </p:nvPr>
        </p:nvSpPr>
        <p:spPr>
          <a:xfrm>
            <a:off x="1221264" y="1502003"/>
            <a:ext cx="6591985" cy="4370895"/>
          </a:xfrm>
        </p:spPr>
        <p:txBody>
          <a:bodyPr>
            <a:noAutofit/>
          </a:bodyPr>
          <a:lstStyle/>
          <a:p>
            <a:r>
              <a:rPr lang="en-AU" sz="800" b="1" dirty="0"/>
              <a:t>Overview of the HCP Dataset &amp; Its Significance</a:t>
            </a:r>
          </a:p>
          <a:p>
            <a:r>
              <a:rPr lang="en-AU" sz="800" dirty="0"/>
              <a:t>Comprehensive episode-level dataset capturing hospital activity, clinical complexity and associated charges</a:t>
            </a:r>
          </a:p>
          <a:p>
            <a:r>
              <a:rPr lang="en-AU" sz="800" dirty="0"/>
              <a:t>Collected to support billing, funding reconciliation, contract compliance and financial reporting</a:t>
            </a:r>
          </a:p>
          <a:p>
            <a:r>
              <a:rPr lang="en-AU" sz="800" dirty="0"/>
              <a:t>Provides visibility into how clinical pathways translate into cost outcomes</a:t>
            </a:r>
          </a:p>
          <a:p>
            <a:r>
              <a:rPr lang="en-AU" sz="800" b="1" dirty="0"/>
              <a:t>Why It Matters to private hospitals</a:t>
            </a:r>
          </a:p>
          <a:p>
            <a:r>
              <a:rPr lang="en-AU" sz="800" dirty="0"/>
              <a:t>Ensures accurate billing and revenue capture</a:t>
            </a:r>
          </a:p>
          <a:p>
            <a:r>
              <a:rPr lang="en-AU" sz="800" dirty="0"/>
              <a:t>Enables benchmarking of service lines and clinical pathways</a:t>
            </a:r>
          </a:p>
          <a:p>
            <a:r>
              <a:rPr lang="en-AU" sz="800" dirty="0"/>
              <a:t>Identifies operational inefficiencies (e.g. LOS, theatre utilisation)</a:t>
            </a:r>
          </a:p>
          <a:p>
            <a:r>
              <a:rPr lang="en-AU" sz="800" dirty="0"/>
              <a:t>Supports evidence-based cost management and service planning</a:t>
            </a:r>
          </a:p>
          <a:p>
            <a:r>
              <a:rPr lang="en-AU" sz="800" b="1" dirty="0"/>
              <a:t>Why It Matters to Insurers</a:t>
            </a:r>
          </a:p>
          <a:p>
            <a:r>
              <a:rPr lang="en-AU" sz="800" dirty="0"/>
              <a:t>Validates claims against expected cost benchmarks</a:t>
            </a:r>
          </a:p>
          <a:p>
            <a:r>
              <a:rPr lang="en-AU" sz="800" dirty="0"/>
              <a:t>Enables risk-adjusted comparison across providers</a:t>
            </a:r>
          </a:p>
          <a:p>
            <a:r>
              <a:rPr lang="en-AU" sz="800" dirty="0"/>
              <a:t>Identifies cost variation and potential anomalies</a:t>
            </a:r>
          </a:p>
          <a:p>
            <a:r>
              <a:rPr lang="en-AU" sz="800" dirty="0"/>
              <a:t>Supports sustainable contract negotiation and pricing strategy</a:t>
            </a:r>
          </a:p>
          <a:p>
            <a:r>
              <a:rPr lang="en-AU" sz="800" b="1" dirty="0"/>
              <a:t>Why Cost Analysis Is Critical</a:t>
            </a:r>
          </a:p>
          <a:p>
            <a:r>
              <a:rPr lang="en-AU" sz="800" dirty="0"/>
              <a:t>Healthcare expenditure is highly variable and skewed</a:t>
            </a:r>
          </a:p>
          <a:p>
            <a:r>
              <a:rPr lang="en-AU" sz="800" dirty="0"/>
              <a:t>A small proportion of episodes drive disproportionate financial impact</a:t>
            </a:r>
          </a:p>
          <a:p>
            <a:r>
              <a:rPr lang="en-AU" sz="800" dirty="0"/>
              <a:t>Risk-adjusted cost analysis improves:</a:t>
            </a:r>
          </a:p>
          <a:p>
            <a:pPr lvl="1"/>
            <a:r>
              <a:rPr lang="en-AU" sz="800" dirty="0"/>
              <a:t>Commercial outcomes (pricing, contracting, margin protection)</a:t>
            </a:r>
          </a:p>
          <a:p>
            <a:pPr lvl="1"/>
            <a:r>
              <a:rPr lang="en-AU" sz="800" dirty="0"/>
              <a:t>Operational efficiency (pathway optimisation, resource allocation)</a:t>
            </a:r>
          </a:p>
          <a:p>
            <a:r>
              <a:rPr lang="en-AU" sz="800" dirty="0"/>
              <a:t>Shifts oversight from broad auditing to targeted, data-driven review</a:t>
            </a:r>
          </a:p>
        </p:txBody>
      </p:sp>
    </p:spTree>
    <p:extLst>
      <p:ext uri="{BB962C8B-B14F-4D97-AF65-F5344CB8AC3E}">
        <p14:creationId xmlns:p14="http://schemas.microsoft.com/office/powerpoint/2010/main" val="2087981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51538-9CC9-C53C-FE20-E85FB6FFBFFD}"/>
              </a:ext>
            </a:extLst>
          </p:cNvPr>
          <p:cNvSpPr>
            <a:spLocks noGrp="1"/>
          </p:cNvSpPr>
          <p:nvPr>
            <p:ph type="title"/>
          </p:nvPr>
        </p:nvSpPr>
        <p:spPr/>
        <p:txBody>
          <a:bodyPr/>
          <a:lstStyle/>
          <a:p>
            <a:r>
              <a:rPr lang="en-AU" dirty="0"/>
              <a:t>Structure of the presentation</a:t>
            </a:r>
          </a:p>
        </p:txBody>
      </p:sp>
      <p:sp>
        <p:nvSpPr>
          <p:cNvPr id="3" name="Content Placeholder 2">
            <a:extLst>
              <a:ext uri="{FF2B5EF4-FFF2-40B4-BE49-F238E27FC236}">
                <a16:creationId xmlns:a16="http://schemas.microsoft.com/office/drawing/2014/main" id="{B374BD99-4005-ECF8-BD86-51CC2F94088A}"/>
              </a:ext>
            </a:extLst>
          </p:cNvPr>
          <p:cNvSpPr>
            <a:spLocks noGrp="1"/>
          </p:cNvSpPr>
          <p:nvPr>
            <p:ph idx="1"/>
          </p:nvPr>
        </p:nvSpPr>
        <p:spPr/>
        <p:txBody>
          <a:bodyPr>
            <a:normAutofit/>
          </a:bodyPr>
          <a:lstStyle/>
          <a:p>
            <a:r>
              <a:rPr lang="en-AU" dirty="0"/>
              <a:t>Part I: Anomaly detection – summary of data quality issues and inconsistency. This is an important part of data governance and operational efficiency.</a:t>
            </a:r>
          </a:p>
          <a:p>
            <a:r>
              <a:rPr lang="en-AU" dirty="0"/>
              <a:t>Part II: Exploratory Data Analysis – Focus on trends and patterns around Cost/Charge of an episode.</a:t>
            </a:r>
          </a:p>
          <a:p>
            <a:r>
              <a:rPr lang="en-AU" dirty="0"/>
              <a:t>Part III: Advanced analytics – XGBOOST to predict episode cost – motivation, hypothesis, methodology, testing and performance</a:t>
            </a:r>
          </a:p>
          <a:p>
            <a:r>
              <a:rPr lang="en-AU" dirty="0"/>
              <a:t>Part IV: Data-driven recommendations</a:t>
            </a:r>
          </a:p>
          <a:p>
            <a:r>
              <a:rPr lang="en-AU" dirty="0"/>
              <a:t>Part V: After thought – Model limitations, financial impact, long term sustainability</a:t>
            </a:r>
          </a:p>
          <a:p>
            <a:endParaRPr lang="en-AU" dirty="0"/>
          </a:p>
          <a:p>
            <a:endParaRPr lang="en-AU" dirty="0"/>
          </a:p>
        </p:txBody>
      </p:sp>
    </p:spTree>
    <p:extLst>
      <p:ext uri="{BB962C8B-B14F-4D97-AF65-F5344CB8AC3E}">
        <p14:creationId xmlns:p14="http://schemas.microsoft.com/office/powerpoint/2010/main" val="3302876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8650" y="451381"/>
            <a:ext cx="7884414" cy="4066540"/>
          </a:xfrm>
        </p:spPr>
        <p:txBody>
          <a:bodyPr anchor="b">
            <a:normAutofit/>
          </a:bodyPr>
          <a:lstStyle/>
          <a:p>
            <a:pPr algn="l"/>
            <a:r>
              <a:rPr lang="en-AU" sz="5700" dirty="0"/>
              <a:t>HCP Data Quality &amp; Billing Consistency Review</a:t>
            </a:r>
          </a:p>
        </p:txBody>
      </p:sp>
      <p:sp>
        <p:nvSpPr>
          <p:cNvPr id="3" name="Subtitle 2"/>
          <p:cNvSpPr>
            <a:spLocks noGrp="1"/>
          </p:cNvSpPr>
          <p:nvPr>
            <p:ph type="subTitle" idx="1"/>
          </p:nvPr>
        </p:nvSpPr>
        <p:spPr>
          <a:xfrm>
            <a:off x="628649" y="4983276"/>
            <a:ext cx="7884414" cy="1126680"/>
          </a:xfrm>
        </p:spPr>
        <p:txBody>
          <a:bodyPr>
            <a:normAutofit/>
          </a:bodyPr>
          <a:lstStyle/>
          <a:p>
            <a:pPr algn="l"/>
            <a:r>
              <a:rPr dirty="0"/>
              <a:t>Summary of Identified Anomalies and Governance Recommendations</a:t>
            </a:r>
            <a:endParaRPr lang="en-AU"/>
          </a:p>
        </p:txBody>
      </p:sp>
      <p:sp>
        <p:nvSpPr>
          <p:cNvPr id="4" name="TextBox 3">
            <a:extLst>
              <a:ext uri="{FF2B5EF4-FFF2-40B4-BE49-F238E27FC236}">
                <a16:creationId xmlns:a16="http://schemas.microsoft.com/office/drawing/2014/main" id="{7C94A4AE-1E2E-90CF-AC4D-C17C9D76F7FA}"/>
              </a:ext>
            </a:extLst>
          </p:cNvPr>
          <p:cNvSpPr txBox="1"/>
          <p:nvPr/>
        </p:nvSpPr>
        <p:spPr>
          <a:xfrm>
            <a:off x="1558834" y="531223"/>
            <a:ext cx="5421086" cy="1107996"/>
          </a:xfrm>
          <a:prstGeom prst="rect">
            <a:avLst/>
          </a:prstGeom>
          <a:noFill/>
        </p:spPr>
        <p:txBody>
          <a:bodyPr wrap="square" rtlCol="0">
            <a:spAutoFit/>
          </a:bodyPr>
          <a:lstStyle/>
          <a:p>
            <a:pPr algn="ctr"/>
            <a:r>
              <a:rPr lang="en-AU" sz="6600" dirty="0"/>
              <a:t>Part 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Overview of Anomaly Detection</a:t>
            </a:r>
          </a:p>
        </p:txBody>
      </p:sp>
      <p:sp>
        <p:nvSpPr>
          <p:cNvPr id="3" name="Content Placeholder 2"/>
          <p:cNvSpPr>
            <a:spLocks noGrp="1"/>
          </p:cNvSpPr>
          <p:nvPr>
            <p:ph idx="1"/>
          </p:nvPr>
        </p:nvSpPr>
        <p:spPr/>
        <p:txBody>
          <a:bodyPr/>
          <a:lstStyle/>
          <a:p>
            <a:r>
              <a:rPr dirty="0"/>
              <a:t>Consistency checks performed across </a:t>
            </a:r>
            <a:r>
              <a:rPr dirty="0" err="1"/>
              <a:t>utilisation</a:t>
            </a:r>
            <a:r>
              <a:rPr dirty="0"/>
              <a:t> and billing fields.</a:t>
            </a:r>
          </a:p>
          <a:p>
            <a:pPr lvl="1"/>
            <a:r>
              <a:rPr dirty="0"/>
              <a:t>Focus: Alignment between recorded care intensity and charges.</a:t>
            </a:r>
          </a:p>
          <a:p>
            <a:pPr lvl="1"/>
            <a:r>
              <a:rPr dirty="0"/>
              <a:t>Objective: Identify potential revenue leakage and classification inconsistencies.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Key Findings: Theatre &amp; Classification</a:t>
            </a:r>
          </a:p>
        </p:txBody>
      </p:sp>
      <p:sp>
        <p:nvSpPr>
          <p:cNvPr id="3" name="Content Placeholder 2"/>
          <p:cNvSpPr>
            <a:spLocks noGrp="1"/>
          </p:cNvSpPr>
          <p:nvPr>
            <p:ph idx="1"/>
          </p:nvPr>
        </p:nvSpPr>
        <p:spPr/>
        <p:txBody>
          <a:bodyPr>
            <a:normAutofit fontScale="92500" lnSpcReduction="10000"/>
          </a:bodyPr>
          <a:lstStyle/>
          <a:p>
            <a:pPr>
              <a:buFontTx/>
              <a:buChar char="-"/>
            </a:pPr>
            <a:r>
              <a:rPr sz="2800" dirty="0"/>
              <a:t>9,510 cases: Theatre minutes recorded but no theatre charge.</a:t>
            </a:r>
            <a:endParaRPr lang="en-AU" sz="2800" dirty="0"/>
          </a:p>
          <a:p>
            <a:pPr>
              <a:buFontTx/>
              <a:buChar char="-"/>
            </a:pPr>
            <a:r>
              <a:rPr sz="2800" dirty="0"/>
              <a:t>5,536 cases: Same-day status but LOS &gt; 1 day.</a:t>
            </a:r>
            <a:endParaRPr lang="en-AU" sz="2800" dirty="0"/>
          </a:p>
          <a:p>
            <a:pPr>
              <a:buFontTx/>
              <a:buChar char="-"/>
            </a:pPr>
            <a:r>
              <a:rPr sz="2800" dirty="0"/>
              <a:t>43 cases: Theatre charge recorded but no theatre minutes.</a:t>
            </a:r>
            <a:endParaRPr lang="en-AU" sz="2800" dirty="0"/>
          </a:p>
          <a:p>
            <a:pPr>
              <a:buFontTx/>
              <a:buChar char="-"/>
            </a:pPr>
            <a:r>
              <a:rPr sz="2800" dirty="0"/>
              <a:t>Recommendation: Review theatre billing allocation and </a:t>
            </a:r>
            <a:r>
              <a:rPr sz="2800" dirty="0" err="1"/>
              <a:t>SameDayStatus</a:t>
            </a:r>
            <a:r>
              <a:rPr sz="2800" dirty="0"/>
              <a:t> logic.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High-Acuity Care Inconsistencies</a:t>
            </a:r>
          </a:p>
        </p:txBody>
      </p:sp>
      <p:sp>
        <p:nvSpPr>
          <p:cNvPr id="3" name="Content Placeholder 2"/>
          <p:cNvSpPr>
            <a:spLocks noGrp="1"/>
          </p:cNvSpPr>
          <p:nvPr>
            <p:ph idx="1"/>
          </p:nvPr>
        </p:nvSpPr>
        <p:spPr/>
        <p:txBody>
          <a:bodyPr/>
          <a:lstStyle/>
          <a:p>
            <a:pPr>
              <a:buFontTx/>
              <a:buChar char="-"/>
            </a:pPr>
            <a:r>
              <a:rPr dirty="0"/>
              <a:t>703 cases: CCU flag TRUE but no CCU charge.</a:t>
            </a:r>
            <a:endParaRPr lang="en-AU" dirty="0"/>
          </a:p>
          <a:p>
            <a:pPr>
              <a:buFontTx/>
              <a:buChar char="-"/>
            </a:pPr>
            <a:r>
              <a:rPr dirty="0"/>
              <a:t>69 cases: Palliative days recorded but inconsistent status.</a:t>
            </a:r>
            <a:endParaRPr lang="en-AU" dirty="0"/>
          </a:p>
          <a:p>
            <a:pPr>
              <a:buFontTx/>
              <a:buChar char="-"/>
            </a:pPr>
            <a:r>
              <a:rPr dirty="0"/>
              <a:t>24 cases: Palliative status indicates care but zero</a:t>
            </a:r>
            <a:r>
              <a:rPr lang="en-AU" dirty="0"/>
              <a:t> Palliative</a:t>
            </a:r>
            <a:r>
              <a:rPr dirty="0"/>
              <a:t> days recorded.</a:t>
            </a:r>
            <a:endParaRPr lang="en-AU" dirty="0"/>
          </a:p>
          <a:p>
            <a:pPr>
              <a:buFontTx/>
              <a:buChar char="-"/>
            </a:pPr>
            <a:r>
              <a:rPr dirty="0"/>
              <a:t>Recommendation: Targeted review of cardiac and palliative coding workflows.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Neonatal &amp; Zero-Charge Episodes</a:t>
            </a:r>
          </a:p>
        </p:txBody>
      </p:sp>
      <p:sp>
        <p:nvSpPr>
          <p:cNvPr id="3" name="Content Placeholder 2"/>
          <p:cNvSpPr>
            <a:spLocks noGrp="1"/>
          </p:cNvSpPr>
          <p:nvPr>
            <p:ph idx="1"/>
          </p:nvPr>
        </p:nvSpPr>
        <p:spPr/>
        <p:txBody>
          <a:bodyPr/>
          <a:lstStyle/>
          <a:p>
            <a:pPr>
              <a:buFontTx/>
              <a:buChar char="-"/>
            </a:pPr>
            <a:r>
              <a:rPr dirty="0"/>
              <a:t>314 cases: Neonatal flag TRUE but no qualified newborn days.</a:t>
            </a:r>
            <a:r>
              <a:rPr lang="en-AU" dirty="0"/>
              <a:t> </a:t>
            </a:r>
          </a:p>
          <a:p>
            <a:pPr>
              <a:buFontTx/>
              <a:buChar char="-"/>
            </a:pPr>
            <a:r>
              <a:rPr dirty="0"/>
              <a:t>430 cases: LOS recorded but total charges = 0.</a:t>
            </a:r>
            <a:endParaRPr lang="en-AU" dirty="0"/>
          </a:p>
          <a:p>
            <a:pPr marL="0" indent="0">
              <a:buNone/>
            </a:pPr>
            <a:r>
              <a:rPr dirty="0"/>
              <a:t>Potential causes: Non-chargeable episodes, bundling, extract timing issues.</a:t>
            </a:r>
            <a:endParaRPr lang="en-AU" dirty="0"/>
          </a:p>
          <a:p>
            <a:pPr marL="0" indent="0">
              <a:buNone/>
            </a:pPr>
            <a:r>
              <a:rPr dirty="0"/>
              <a:t>Recommendation: </a:t>
            </a:r>
            <a:r>
              <a:rPr lang="en-AU" dirty="0"/>
              <a:t>Investigate to confirm revenue integrity and documentation compliance.</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Strategic Recommendations</a:t>
            </a:r>
          </a:p>
        </p:txBody>
      </p:sp>
      <p:sp>
        <p:nvSpPr>
          <p:cNvPr id="3" name="Content Placeholder 2"/>
          <p:cNvSpPr>
            <a:spLocks noGrp="1"/>
          </p:cNvSpPr>
          <p:nvPr>
            <p:ph idx="1"/>
          </p:nvPr>
        </p:nvSpPr>
        <p:spPr/>
        <p:txBody>
          <a:bodyPr/>
          <a:lstStyle/>
          <a:p>
            <a:pPr>
              <a:buFontTx/>
              <a:buChar char="-"/>
            </a:pPr>
            <a:r>
              <a:rPr lang="en-AU"/>
              <a:t>Implement automated monthly anomaly monitoring dashboard.</a:t>
            </a:r>
          </a:p>
          <a:p>
            <a:pPr>
              <a:buFontTx/>
              <a:buChar char="-"/>
            </a:pPr>
            <a:r>
              <a:rPr lang="en-AU"/>
              <a:t>Flag high-acuity care without corresponding charges.</a:t>
            </a:r>
          </a:p>
          <a:p>
            <a:pPr>
              <a:buFontTx/>
              <a:buChar char="-"/>
            </a:pPr>
            <a:r>
              <a:rPr lang="en-AU"/>
              <a:t>Strengthen integration between clinical and financial systems.</a:t>
            </a:r>
          </a:p>
          <a:p>
            <a:pPr>
              <a:buFontTx/>
              <a:buChar char="-"/>
            </a:pPr>
            <a:r>
              <a:rPr lang="en-AU"/>
              <a:t>Embed anomaly checks prior to insurer submission.</a:t>
            </a:r>
            <a:endParaRPr lang="en-A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F0F4-2C41-A6B8-D2EF-D5FF9F15DC52}"/>
              </a:ext>
            </a:extLst>
          </p:cNvPr>
          <p:cNvSpPr>
            <a:spLocks noGrp="1"/>
          </p:cNvSpPr>
          <p:nvPr>
            <p:ph type="title"/>
          </p:nvPr>
        </p:nvSpPr>
        <p:spPr/>
        <p:txBody>
          <a:bodyPr/>
          <a:lstStyle/>
          <a:p>
            <a:r>
              <a:rPr lang="en-AU" dirty="0"/>
              <a:t>PART II: Exploratory Data Analysis</a:t>
            </a:r>
          </a:p>
        </p:txBody>
      </p:sp>
      <p:sp>
        <p:nvSpPr>
          <p:cNvPr id="3" name="Content Placeholder 2">
            <a:extLst>
              <a:ext uri="{FF2B5EF4-FFF2-40B4-BE49-F238E27FC236}">
                <a16:creationId xmlns:a16="http://schemas.microsoft.com/office/drawing/2014/main" id="{9E8792D0-5820-F9E6-A5EE-FD3944C8B460}"/>
              </a:ext>
            </a:extLst>
          </p:cNvPr>
          <p:cNvSpPr>
            <a:spLocks noGrp="1"/>
          </p:cNvSpPr>
          <p:nvPr>
            <p:ph idx="1"/>
          </p:nvPr>
        </p:nvSpPr>
        <p:spPr/>
        <p:txBody>
          <a:bodyPr/>
          <a:lstStyle/>
          <a:p>
            <a:r>
              <a:rPr lang="en-AU" dirty="0"/>
              <a:t>Explore the trends and patterns in cost/charge of an episode</a:t>
            </a:r>
          </a:p>
          <a:p>
            <a:r>
              <a:rPr lang="en-AU" dirty="0"/>
              <a:t>Provide recommendations based on findings</a:t>
            </a:r>
          </a:p>
        </p:txBody>
      </p:sp>
    </p:spTree>
    <p:extLst>
      <p:ext uri="{BB962C8B-B14F-4D97-AF65-F5344CB8AC3E}">
        <p14:creationId xmlns:p14="http://schemas.microsoft.com/office/powerpoint/2010/main" val="2615726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F9865-B5FF-CEAF-85BC-2F3EBBB738B6}"/>
              </a:ext>
            </a:extLst>
          </p:cNvPr>
          <p:cNvSpPr>
            <a:spLocks noGrp="1"/>
          </p:cNvSpPr>
          <p:nvPr>
            <p:ph type="title"/>
          </p:nvPr>
        </p:nvSpPr>
        <p:spPr/>
        <p:txBody>
          <a:bodyPr/>
          <a:lstStyle/>
          <a:p>
            <a:r>
              <a:rPr lang="en-AU" dirty="0"/>
              <a:t>Cost Segmentation</a:t>
            </a:r>
          </a:p>
        </p:txBody>
      </p:sp>
      <p:sp>
        <p:nvSpPr>
          <p:cNvPr id="3" name="Content Placeholder 2">
            <a:extLst>
              <a:ext uri="{FF2B5EF4-FFF2-40B4-BE49-F238E27FC236}">
                <a16:creationId xmlns:a16="http://schemas.microsoft.com/office/drawing/2014/main" id="{D8BD407B-7F2C-B885-8FFF-0084F43D2671}"/>
              </a:ext>
            </a:extLst>
          </p:cNvPr>
          <p:cNvSpPr>
            <a:spLocks noGrp="1"/>
          </p:cNvSpPr>
          <p:nvPr>
            <p:ph idx="1"/>
          </p:nvPr>
        </p:nvSpPr>
        <p:spPr/>
        <p:txBody>
          <a:bodyPr>
            <a:normAutofit fontScale="70000" lnSpcReduction="20000"/>
          </a:bodyPr>
          <a:lstStyle/>
          <a:p>
            <a:r>
              <a:rPr lang="en-AU" b="1" dirty="0"/>
              <a:t>Definition of Cost Segment in This Case Study</a:t>
            </a:r>
          </a:p>
          <a:p>
            <a:r>
              <a:rPr lang="en-AU" dirty="0"/>
              <a:t>Cost segments were created to categorise episodes based on their total hospital charges, allowing analysis of cost variation across different levels of expenditure.</a:t>
            </a:r>
          </a:p>
          <a:p>
            <a:r>
              <a:rPr lang="en-AU" dirty="0"/>
              <a:t>Episodes were grouped using percentile thresholds:</a:t>
            </a:r>
          </a:p>
          <a:p>
            <a:r>
              <a:rPr lang="en-AU" b="1" dirty="0"/>
              <a:t>Low</a:t>
            </a:r>
            <a:r>
              <a:rPr lang="en-AU" dirty="0"/>
              <a:t>: ≤ 50th percentile of total charges</a:t>
            </a:r>
          </a:p>
          <a:p>
            <a:r>
              <a:rPr lang="en-AU" b="1" dirty="0"/>
              <a:t>Medium</a:t>
            </a:r>
            <a:r>
              <a:rPr lang="en-AU" dirty="0"/>
              <a:t>: 50th–75th percentile</a:t>
            </a:r>
          </a:p>
          <a:p>
            <a:r>
              <a:rPr lang="en-AU" b="1" dirty="0"/>
              <a:t>High</a:t>
            </a:r>
            <a:r>
              <a:rPr lang="en-AU" dirty="0"/>
              <a:t>: 75th–95th percentile</a:t>
            </a:r>
          </a:p>
          <a:p>
            <a:r>
              <a:rPr lang="en-AU" b="1" dirty="0"/>
              <a:t>Very High</a:t>
            </a:r>
            <a:r>
              <a:rPr lang="en-AU" dirty="0"/>
              <a:t>: &gt; 95th percentile</a:t>
            </a:r>
          </a:p>
          <a:p>
            <a:r>
              <a:rPr lang="en-AU" dirty="0"/>
              <a:t>This segmentation enables:</a:t>
            </a:r>
          </a:p>
          <a:p>
            <a:r>
              <a:rPr lang="en-AU" dirty="0"/>
              <a:t>Stratified analysis of cost behaviour</a:t>
            </a:r>
          </a:p>
          <a:p>
            <a:r>
              <a:rPr lang="en-AU" dirty="0"/>
              <a:t>Identification of where outliers concentrate</a:t>
            </a:r>
          </a:p>
          <a:p>
            <a:r>
              <a:rPr lang="en-AU" dirty="0"/>
              <a:t>Separation of routine, moderate and catastrophic cost episodes</a:t>
            </a:r>
          </a:p>
          <a:p>
            <a:r>
              <a:rPr lang="en-AU" dirty="0"/>
              <a:t>More meaningful comparison of efficiency and financial risk</a:t>
            </a:r>
          </a:p>
          <a:p>
            <a:endParaRPr lang="en-AU" dirty="0"/>
          </a:p>
        </p:txBody>
      </p:sp>
    </p:spTree>
    <p:extLst>
      <p:ext uri="{BB962C8B-B14F-4D97-AF65-F5344CB8AC3E}">
        <p14:creationId xmlns:p14="http://schemas.microsoft.com/office/powerpoint/2010/main" val="1502221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BB52D-5D7F-10FB-2FCC-37D3C09D2F58}"/>
              </a:ext>
            </a:extLst>
          </p:cNvPr>
          <p:cNvSpPr>
            <a:spLocks noGrp="1"/>
          </p:cNvSpPr>
          <p:nvPr>
            <p:ph type="title"/>
          </p:nvPr>
        </p:nvSpPr>
        <p:spPr>
          <a:xfrm>
            <a:off x="291564" y="666045"/>
            <a:ext cx="8408193" cy="744836"/>
          </a:xfrm>
        </p:spPr>
        <p:txBody>
          <a:bodyPr vert="horz" lIns="91440" tIns="45720" rIns="91440" bIns="45720" rtlCol="0" anchor="ctr">
            <a:normAutofit/>
          </a:bodyPr>
          <a:lstStyle/>
          <a:p>
            <a:pPr defTabSz="914400">
              <a:lnSpc>
                <a:spcPct val="90000"/>
              </a:lnSpc>
            </a:pPr>
            <a:r>
              <a:rPr lang="en-US" sz="2800" kern="1200" dirty="0">
                <a:solidFill>
                  <a:schemeClr val="tx1"/>
                </a:solidFill>
                <a:latin typeface="+mj-lt"/>
                <a:ea typeface="+mj-ea"/>
                <a:cs typeface="+mj-cs"/>
              </a:rPr>
              <a:t>Pareto </a:t>
            </a:r>
            <a:r>
              <a:rPr lang="en-US" sz="2800" kern="1200" dirty="0" err="1">
                <a:solidFill>
                  <a:schemeClr val="tx1"/>
                </a:solidFill>
                <a:latin typeface="+mj-lt"/>
                <a:ea typeface="+mj-ea"/>
                <a:cs typeface="+mj-cs"/>
              </a:rPr>
              <a:t>behaviour</a:t>
            </a:r>
            <a:endParaRPr lang="en-US" sz="2800" kern="1200" dirty="0">
              <a:solidFill>
                <a:schemeClr val="tx1"/>
              </a:solidFill>
              <a:latin typeface="+mj-lt"/>
              <a:ea typeface="+mj-ea"/>
              <a:cs typeface="+mj-cs"/>
            </a:endParaRPr>
          </a:p>
        </p:txBody>
      </p:sp>
      <p:pic>
        <p:nvPicPr>
          <p:cNvPr id="15" name="Picture 14">
            <a:extLst>
              <a:ext uri="{FF2B5EF4-FFF2-40B4-BE49-F238E27FC236}">
                <a16:creationId xmlns:a16="http://schemas.microsoft.com/office/drawing/2014/main" id="{05A9D61D-D6B9-C840-726A-83A5AC1D9056}"/>
              </a:ext>
            </a:extLst>
          </p:cNvPr>
          <p:cNvPicPr>
            <a:picLocks noChangeAspect="1"/>
          </p:cNvPicPr>
          <p:nvPr/>
        </p:nvPicPr>
        <p:blipFill>
          <a:blip r:embed="rId3"/>
          <a:stretch>
            <a:fillRect/>
          </a:stretch>
        </p:blipFill>
        <p:spPr>
          <a:xfrm>
            <a:off x="0" y="1471314"/>
            <a:ext cx="9144000" cy="5125621"/>
          </a:xfrm>
          <a:prstGeom prst="rect">
            <a:avLst/>
          </a:prstGeom>
        </p:spPr>
      </p:pic>
      <p:sp>
        <p:nvSpPr>
          <p:cNvPr id="11" name="TextBox 10">
            <a:extLst>
              <a:ext uri="{FF2B5EF4-FFF2-40B4-BE49-F238E27FC236}">
                <a16:creationId xmlns:a16="http://schemas.microsoft.com/office/drawing/2014/main" id="{B43C77CD-4BA9-A3C5-A9AC-7E0FB4C72E15}"/>
              </a:ext>
            </a:extLst>
          </p:cNvPr>
          <p:cNvSpPr txBox="1"/>
          <p:nvPr/>
        </p:nvSpPr>
        <p:spPr>
          <a:xfrm>
            <a:off x="612398" y="2176944"/>
            <a:ext cx="4915948" cy="2308324"/>
          </a:xfrm>
          <a:prstGeom prst="rect">
            <a:avLst/>
          </a:prstGeom>
          <a:noFill/>
        </p:spPr>
        <p:txBody>
          <a:bodyPr wrap="square">
            <a:spAutoFit/>
          </a:bodyPr>
          <a:lstStyle/>
          <a:p>
            <a:pPr>
              <a:buNone/>
            </a:pPr>
            <a:r>
              <a:rPr lang="en-AU" sz="900" dirty="0"/>
              <a:t>- The distribution of episode costs demonstrates clear Pareto behaviour, where a relatively small proportion of cases generate a disproportionate share of total revenue.</a:t>
            </a:r>
          </a:p>
          <a:p>
            <a:r>
              <a:rPr lang="en-AU" sz="900" dirty="0"/>
              <a:t>- Approximately 25% of episodes, classified within the High and Very High cost segments, account for the majority of total hospital revenue (78%). In particular, the top 5% of cases represent extremely high-value, resource-intensive episodes that significantly influence overall financial performance.</a:t>
            </a:r>
          </a:p>
          <a:p>
            <a:r>
              <a:rPr lang="en-AU" sz="900" dirty="0"/>
              <a:t>- This concentration could reflect the nature of acute healthcare delivery, where high-acuity surgical and complex inpatient pathways drive substantial revenue and resource utilisation.</a:t>
            </a:r>
          </a:p>
          <a:p>
            <a:pPr>
              <a:buNone/>
            </a:pPr>
            <a:r>
              <a:rPr lang="en-AU" sz="900" dirty="0"/>
              <a:t>- From a strategic perspective, this finding highlights that financial risk, </a:t>
            </a:r>
            <a:r>
              <a:rPr lang="en-AU" sz="900" b="1" dirty="0"/>
              <a:t>insurer scrutiny</a:t>
            </a:r>
            <a:r>
              <a:rPr lang="en-AU" sz="900" dirty="0"/>
              <a:t>, and operational intensity are not evenly distributed across all episodes. Instead, they are concentrated within a relatively small group of high-value cases.</a:t>
            </a:r>
          </a:p>
          <a:p>
            <a:pPr>
              <a:buNone/>
            </a:pPr>
            <a:r>
              <a:rPr lang="en-AU" sz="900" b="1" dirty="0"/>
              <a:t>- Focusing governance, billing accuracy, contract compliance, and operational optimisation efforts on this segment will yield the greatest impact on revenue protection and performance stability</a:t>
            </a:r>
            <a:r>
              <a:rPr lang="en-AU" sz="900" dirty="0"/>
              <a:t>.</a:t>
            </a:r>
          </a:p>
        </p:txBody>
      </p:sp>
      <p:pic>
        <p:nvPicPr>
          <p:cNvPr id="19" name="Picture 18">
            <a:extLst>
              <a:ext uri="{FF2B5EF4-FFF2-40B4-BE49-F238E27FC236}">
                <a16:creationId xmlns:a16="http://schemas.microsoft.com/office/drawing/2014/main" id="{68A13E93-86C1-D893-7067-BF02DF03C096}"/>
              </a:ext>
            </a:extLst>
          </p:cNvPr>
          <p:cNvPicPr>
            <a:picLocks noChangeAspect="1"/>
          </p:cNvPicPr>
          <p:nvPr/>
        </p:nvPicPr>
        <p:blipFill>
          <a:blip r:embed="rId4"/>
          <a:stretch>
            <a:fillRect/>
          </a:stretch>
        </p:blipFill>
        <p:spPr>
          <a:xfrm>
            <a:off x="1539771" y="4493808"/>
            <a:ext cx="2915561" cy="1635421"/>
          </a:xfrm>
          <a:prstGeom prst="rect">
            <a:avLst/>
          </a:prstGeom>
        </p:spPr>
      </p:pic>
    </p:spTree>
    <p:extLst>
      <p:ext uri="{BB962C8B-B14F-4D97-AF65-F5344CB8AC3E}">
        <p14:creationId xmlns:p14="http://schemas.microsoft.com/office/powerpoint/2010/main" val="3716611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21ACB-3D6E-AC1A-1B95-CD932139E93A}"/>
              </a:ext>
            </a:extLst>
          </p:cNvPr>
          <p:cNvSpPr>
            <a:spLocks noGrp="1"/>
          </p:cNvSpPr>
          <p:nvPr>
            <p:ph type="title"/>
          </p:nvPr>
        </p:nvSpPr>
        <p:spPr/>
        <p:txBody>
          <a:bodyPr/>
          <a:lstStyle/>
          <a:p>
            <a:r>
              <a:rPr lang="en-AU" dirty="0"/>
              <a:t>Length of stay analysis</a:t>
            </a:r>
          </a:p>
        </p:txBody>
      </p:sp>
      <p:pic>
        <p:nvPicPr>
          <p:cNvPr id="5" name="Content Placeholder 4">
            <a:extLst>
              <a:ext uri="{FF2B5EF4-FFF2-40B4-BE49-F238E27FC236}">
                <a16:creationId xmlns:a16="http://schemas.microsoft.com/office/drawing/2014/main" id="{0C3FAD6B-4012-2E38-D9AE-DAB33326071C}"/>
              </a:ext>
            </a:extLst>
          </p:cNvPr>
          <p:cNvPicPr>
            <a:picLocks noGrp="1" noChangeAspect="1"/>
          </p:cNvPicPr>
          <p:nvPr>
            <p:ph idx="1"/>
          </p:nvPr>
        </p:nvPicPr>
        <p:blipFill>
          <a:blip r:embed="rId3"/>
          <a:stretch>
            <a:fillRect/>
          </a:stretch>
        </p:blipFill>
        <p:spPr>
          <a:xfrm>
            <a:off x="172637" y="1330235"/>
            <a:ext cx="4399364" cy="2657525"/>
          </a:xfrm>
          <a:prstGeom prst="rect">
            <a:avLst/>
          </a:prstGeom>
        </p:spPr>
      </p:pic>
      <p:pic>
        <p:nvPicPr>
          <p:cNvPr id="7" name="Picture 6">
            <a:extLst>
              <a:ext uri="{FF2B5EF4-FFF2-40B4-BE49-F238E27FC236}">
                <a16:creationId xmlns:a16="http://schemas.microsoft.com/office/drawing/2014/main" id="{5D358206-F015-FA4F-E1E4-C54E354B7EA5}"/>
              </a:ext>
            </a:extLst>
          </p:cNvPr>
          <p:cNvPicPr>
            <a:picLocks noChangeAspect="1"/>
          </p:cNvPicPr>
          <p:nvPr/>
        </p:nvPicPr>
        <p:blipFill>
          <a:blip r:embed="rId4"/>
          <a:stretch>
            <a:fillRect/>
          </a:stretch>
        </p:blipFill>
        <p:spPr>
          <a:xfrm>
            <a:off x="203954" y="4070149"/>
            <a:ext cx="4368047" cy="2633088"/>
          </a:xfrm>
          <a:prstGeom prst="rect">
            <a:avLst/>
          </a:prstGeom>
        </p:spPr>
      </p:pic>
      <p:sp>
        <p:nvSpPr>
          <p:cNvPr id="9" name="TextBox 8">
            <a:extLst>
              <a:ext uri="{FF2B5EF4-FFF2-40B4-BE49-F238E27FC236}">
                <a16:creationId xmlns:a16="http://schemas.microsoft.com/office/drawing/2014/main" id="{12F6B312-A288-3B51-3B8E-B0303C98C708}"/>
              </a:ext>
            </a:extLst>
          </p:cNvPr>
          <p:cNvSpPr txBox="1"/>
          <p:nvPr/>
        </p:nvSpPr>
        <p:spPr>
          <a:xfrm>
            <a:off x="4794191" y="1364711"/>
            <a:ext cx="3247401" cy="3693319"/>
          </a:xfrm>
          <a:prstGeom prst="rect">
            <a:avLst/>
          </a:prstGeom>
          <a:noFill/>
        </p:spPr>
        <p:txBody>
          <a:bodyPr wrap="square">
            <a:spAutoFit/>
          </a:bodyPr>
          <a:lstStyle/>
          <a:p>
            <a:r>
              <a:rPr lang="en-AU" dirty="0"/>
              <a:t>There is a clear positive relationship between cost segment and length of stay. Very High-cost episodes are characterised by significantly longer and more variable admissions, including a heavy tail of extreme-stay cases. This indicates that prolonged inpatient pathways are a major structural driver of financial concentration and operational intensity.</a:t>
            </a:r>
          </a:p>
        </p:txBody>
      </p:sp>
    </p:spTree>
    <p:extLst>
      <p:ext uri="{BB962C8B-B14F-4D97-AF65-F5344CB8AC3E}">
        <p14:creationId xmlns:p14="http://schemas.microsoft.com/office/powerpoint/2010/main" val="3563409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C5332-7395-9285-E338-B3EA911C3D88}"/>
              </a:ext>
            </a:extLst>
          </p:cNvPr>
          <p:cNvSpPr>
            <a:spLocks noGrp="1"/>
          </p:cNvSpPr>
          <p:nvPr>
            <p:ph type="title"/>
          </p:nvPr>
        </p:nvSpPr>
        <p:spPr>
          <a:xfrm>
            <a:off x="657519" y="741391"/>
            <a:ext cx="2591866" cy="1616203"/>
          </a:xfrm>
        </p:spPr>
        <p:txBody>
          <a:bodyPr anchor="b">
            <a:normAutofit/>
          </a:bodyPr>
          <a:lstStyle/>
          <a:p>
            <a:r>
              <a:rPr lang="en-AU" sz="2800"/>
              <a:t>Theatre usage analysis</a:t>
            </a:r>
          </a:p>
        </p:txBody>
      </p:sp>
      <p:sp>
        <p:nvSpPr>
          <p:cNvPr id="3" name="Content Placeholder 2">
            <a:extLst>
              <a:ext uri="{FF2B5EF4-FFF2-40B4-BE49-F238E27FC236}">
                <a16:creationId xmlns:a16="http://schemas.microsoft.com/office/drawing/2014/main" id="{879F92A4-2A6F-41BB-E98E-7018F06B00FD}"/>
              </a:ext>
            </a:extLst>
          </p:cNvPr>
          <p:cNvSpPr>
            <a:spLocks noGrp="1"/>
          </p:cNvSpPr>
          <p:nvPr>
            <p:ph idx="1"/>
          </p:nvPr>
        </p:nvSpPr>
        <p:spPr>
          <a:xfrm>
            <a:off x="657519" y="2533476"/>
            <a:ext cx="2591866" cy="3447832"/>
          </a:xfrm>
        </p:spPr>
        <p:txBody>
          <a:bodyPr anchor="t">
            <a:normAutofit lnSpcReduction="10000"/>
          </a:bodyPr>
          <a:lstStyle/>
          <a:p>
            <a:pPr marL="0" indent="0">
              <a:lnSpc>
                <a:spcPct val="90000"/>
              </a:lnSpc>
              <a:buNone/>
            </a:pPr>
            <a:r>
              <a:rPr lang="en-AU" sz="1400"/>
              <a:t>High and Very High-cost episodes are predominantly procedure-driven, with over 80% involving theatre use. Median theatre duration increases substantially across segments, indicating that cost concentration is closely tied to surgical complexity and intensity. When combined with longer lengths of stay, this suggests that procedural and post-operative resource utilisation are the primary structural drivers of financial concentration.</a:t>
            </a:r>
          </a:p>
        </p:txBody>
      </p:sp>
      <p:pic>
        <p:nvPicPr>
          <p:cNvPr id="5" name="Picture 4">
            <a:extLst>
              <a:ext uri="{FF2B5EF4-FFF2-40B4-BE49-F238E27FC236}">
                <a16:creationId xmlns:a16="http://schemas.microsoft.com/office/drawing/2014/main" id="{3D75DF54-2323-BD32-7291-CBD1736EA30A}"/>
              </a:ext>
            </a:extLst>
          </p:cNvPr>
          <p:cNvPicPr>
            <a:picLocks noChangeAspect="1"/>
          </p:cNvPicPr>
          <p:nvPr/>
        </p:nvPicPr>
        <p:blipFill>
          <a:blip r:embed="rId3"/>
          <a:stretch>
            <a:fillRect/>
          </a:stretch>
        </p:blipFill>
        <p:spPr>
          <a:xfrm>
            <a:off x="3740754" y="1642641"/>
            <a:ext cx="4792009" cy="3582027"/>
          </a:xfrm>
          <a:prstGeom prst="rect">
            <a:avLst/>
          </a:prstGeom>
        </p:spPr>
      </p:pic>
    </p:spTree>
    <p:extLst>
      <p:ext uri="{BB962C8B-B14F-4D97-AF65-F5344CB8AC3E}">
        <p14:creationId xmlns:p14="http://schemas.microsoft.com/office/powerpoint/2010/main" val="2179207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1EF7-97BD-DC39-832C-CD5591ECD2BA}"/>
              </a:ext>
            </a:extLst>
          </p:cNvPr>
          <p:cNvSpPr>
            <a:spLocks noGrp="1"/>
          </p:cNvSpPr>
          <p:nvPr>
            <p:ph type="title"/>
          </p:nvPr>
        </p:nvSpPr>
        <p:spPr/>
        <p:txBody>
          <a:bodyPr/>
          <a:lstStyle/>
          <a:p>
            <a:r>
              <a:rPr lang="en-AU" b="1" dirty="0"/>
              <a:t> CCU / SCN / HIH Usage Analysis</a:t>
            </a:r>
            <a:endParaRPr lang="en-AU" dirty="0"/>
          </a:p>
        </p:txBody>
      </p:sp>
      <p:pic>
        <p:nvPicPr>
          <p:cNvPr id="5" name="Picture 4">
            <a:extLst>
              <a:ext uri="{FF2B5EF4-FFF2-40B4-BE49-F238E27FC236}">
                <a16:creationId xmlns:a16="http://schemas.microsoft.com/office/drawing/2014/main" id="{F92EF9FE-C357-984E-13ED-11CE6BD48ABC}"/>
              </a:ext>
            </a:extLst>
          </p:cNvPr>
          <p:cNvPicPr>
            <a:picLocks noChangeAspect="1"/>
          </p:cNvPicPr>
          <p:nvPr/>
        </p:nvPicPr>
        <p:blipFill>
          <a:blip r:embed="rId2"/>
          <a:stretch>
            <a:fillRect/>
          </a:stretch>
        </p:blipFill>
        <p:spPr>
          <a:xfrm>
            <a:off x="430907" y="2119011"/>
            <a:ext cx="5606198" cy="4430331"/>
          </a:xfrm>
          <a:prstGeom prst="rect">
            <a:avLst/>
          </a:prstGeom>
        </p:spPr>
      </p:pic>
      <p:sp>
        <p:nvSpPr>
          <p:cNvPr id="7" name="TextBox 6">
            <a:extLst>
              <a:ext uri="{FF2B5EF4-FFF2-40B4-BE49-F238E27FC236}">
                <a16:creationId xmlns:a16="http://schemas.microsoft.com/office/drawing/2014/main" id="{E46440F9-D82C-BE3E-A292-0FEEE7CDA243}"/>
              </a:ext>
            </a:extLst>
          </p:cNvPr>
          <p:cNvSpPr txBox="1"/>
          <p:nvPr/>
        </p:nvSpPr>
        <p:spPr>
          <a:xfrm>
            <a:off x="6226628" y="1456826"/>
            <a:ext cx="2791097" cy="4247317"/>
          </a:xfrm>
          <a:prstGeom prst="rect">
            <a:avLst/>
          </a:prstGeom>
          <a:noFill/>
        </p:spPr>
        <p:txBody>
          <a:bodyPr wrap="square">
            <a:spAutoFit/>
          </a:bodyPr>
          <a:lstStyle/>
          <a:p>
            <a:r>
              <a:rPr lang="en-AU" dirty="0"/>
              <a:t>High-cost episodes are associated with greater critical care exposure compared to lower-cost cases; however, the marginal increase between High and Very High segments is modest. This indicates that while acuity contributes to cost concentration, procedural intensity and length of stay appear to be stronger structural drivers of financial concentration.</a:t>
            </a:r>
          </a:p>
        </p:txBody>
      </p:sp>
    </p:spTree>
    <p:extLst>
      <p:ext uri="{BB962C8B-B14F-4D97-AF65-F5344CB8AC3E}">
        <p14:creationId xmlns:p14="http://schemas.microsoft.com/office/powerpoint/2010/main" val="652000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AB78D-B830-DB32-E584-DDDAE68CD099}"/>
              </a:ext>
            </a:extLst>
          </p:cNvPr>
          <p:cNvSpPr>
            <a:spLocks noGrp="1"/>
          </p:cNvSpPr>
          <p:nvPr>
            <p:ph type="title"/>
          </p:nvPr>
        </p:nvSpPr>
        <p:spPr>
          <a:xfrm>
            <a:off x="1894892" y="174136"/>
            <a:ext cx="6589199" cy="674276"/>
          </a:xfrm>
        </p:spPr>
        <p:txBody>
          <a:bodyPr/>
          <a:lstStyle/>
          <a:p>
            <a:r>
              <a:rPr lang="en-AU" dirty="0"/>
              <a:t>DRG Distribution</a:t>
            </a:r>
          </a:p>
        </p:txBody>
      </p:sp>
      <p:pic>
        <p:nvPicPr>
          <p:cNvPr id="5" name="Picture 4">
            <a:extLst>
              <a:ext uri="{FF2B5EF4-FFF2-40B4-BE49-F238E27FC236}">
                <a16:creationId xmlns:a16="http://schemas.microsoft.com/office/drawing/2014/main" id="{AFD9BE43-887B-463A-A91D-2E1800A93D4D}"/>
              </a:ext>
            </a:extLst>
          </p:cNvPr>
          <p:cNvPicPr>
            <a:picLocks noChangeAspect="1"/>
          </p:cNvPicPr>
          <p:nvPr/>
        </p:nvPicPr>
        <p:blipFill>
          <a:blip r:embed="rId3"/>
          <a:stretch>
            <a:fillRect/>
          </a:stretch>
        </p:blipFill>
        <p:spPr>
          <a:xfrm>
            <a:off x="286047" y="1265099"/>
            <a:ext cx="4948029" cy="4327802"/>
          </a:xfrm>
          <a:prstGeom prst="rect">
            <a:avLst/>
          </a:prstGeom>
        </p:spPr>
      </p:pic>
      <p:pic>
        <p:nvPicPr>
          <p:cNvPr id="7" name="Picture 6">
            <a:extLst>
              <a:ext uri="{FF2B5EF4-FFF2-40B4-BE49-F238E27FC236}">
                <a16:creationId xmlns:a16="http://schemas.microsoft.com/office/drawing/2014/main" id="{80B5CFF4-A9B5-6728-0F37-2C42E2FEACEC}"/>
              </a:ext>
            </a:extLst>
          </p:cNvPr>
          <p:cNvPicPr>
            <a:picLocks noChangeAspect="1"/>
          </p:cNvPicPr>
          <p:nvPr/>
        </p:nvPicPr>
        <p:blipFill>
          <a:blip r:embed="rId4"/>
          <a:stretch>
            <a:fillRect/>
          </a:stretch>
        </p:blipFill>
        <p:spPr>
          <a:xfrm>
            <a:off x="5279047" y="1265099"/>
            <a:ext cx="3440703" cy="4283399"/>
          </a:xfrm>
          <a:prstGeom prst="rect">
            <a:avLst/>
          </a:prstGeom>
        </p:spPr>
      </p:pic>
      <p:sp>
        <p:nvSpPr>
          <p:cNvPr id="9" name="TextBox 8">
            <a:extLst>
              <a:ext uri="{FF2B5EF4-FFF2-40B4-BE49-F238E27FC236}">
                <a16:creationId xmlns:a16="http://schemas.microsoft.com/office/drawing/2014/main" id="{5F0707C8-F35B-8CFD-CFAB-3DA702ED2D33}"/>
              </a:ext>
            </a:extLst>
          </p:cNvPr>
          <p:cNvSpPr txBox="1"/>
          <p:nvPr/>
        </p:nvSpPr>
        <p:spPr>
          <a:xfrm>
            <a:off x="1734531" y="5664269"/>
            <a:ext cx="7078587" cy="1169551"/>
          </a:xfrm>
          <a:prstGeom prst="rect">
            <a:avLst/>
          </a:prstGeom>
          <a:noFill/>
        </p:spPr>
        <p:txBody>
          <a:bodyPr wrap="square">
            <a:spAutoFit/>
          </a:bodyPr>
          <a:lstStyle/>
          <a:p>
            <a:r>
              <a:rPr lang="en-AU" sz="1000" dirty="0"/>
              <a:t>Very High episodes are financially concentrated in a small number of DRGs. The top 3 DRGs contribute ~50% of Very High revenue, indicating structural dependency on specific complex clinical pathways.</a:t>
            </a:r>
          </a:p>
          <a:p>
            <a:r>
              <a:rPr lang="en-AU" sz="1000" dirty="0"/>
              <a:t>In contrast, High episodes are broadly distributed across many DRGs, reflecting a diversified surgical portfolio.</a:t>
            </a:r>
          </a:p>
          <a:p>
            <a:r>
              <a:rPr lang="en-AU" sz="1000" dirty="0"/>
              <a:t>This suggests that financial risk, contract exposure, and operational pressure are disproportionately concentrated within a small set of high-complexity DRGs.</a:t>
            </a:r>
          </a:p>
          <a:p>
            <a:r>
              <a:rPr lang="en-AU" sz="1000" b="1" dirty="0"/>
              <a:t>Focused governance, contract management, and operational optimisation in these pathways will deliver the greatest financial impact and risk protection.</a:t>
            </a:r>
          </a:p>
        </p:txBody>
      </p:sp>
    </p:spTree>
    <p:extLst>
      <p:ext uri="{BB962C8B-B14F-4D97-AF65-F5344CB8AC3E}">
        <p14:creationId xmlns:p14="http://schemas.microsoft.com/office/powerpoint/2010/main" val="2413298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AA640-7756-35EF-3362-A296892674E7}"/>
              </a:ext>
            </a:extLst>
          </p:cNvPr>
          <p:cNvSpPr>
            <a:spLocks noGrp="1"/>
          </p:cNvSpPr>
          <p:nvPr>
            <p:ph type="title"/>
          </p:nvPr>
        </p:nvSpPr>
        <p:spPr>
          <a:xfrm>
            <a:off x="2685204" y="28150"/>
            <a:ext cx="6589200" cy="1280890"/>
          </a:xfrm>
        </p:spPr>
        <p:txBody>
          <a:bodyPr>
            <a:normAutofit/>
          </a:bodyPr>
          <a:lstStyle/>
          <a:p>
            <a:r>
              <a:rPr lang="en-AU" sz="1600" dirty="0"/>
              <a:t>DRG Distribution</a:t>
            </a:r>
          </a:p>
        </p:txBody>
      </p:sp>
      <p:sp>
        <p:nvSpPr>
          <p:cNvPr id="4" name="Text Placeholder 3">
            <a:extLst>
              <a:ext uri="{FF2B5EF4-FFF2-40B4-BE49-F238E27FC236}">
                <a16:creationId xmlns:a16="http://schemas.microsoft.com/office/drawing/2014/main" id="{DB92D6AB-A560-BC3E-B754-19647C288780}"/>
              </a:ext>
            </a:extLst>
          </p:cNvPr>
          <p:cNvSpPr>
            <a:spLocks noGrp="1"/>
          </p:cNvSpPr>
          <p:nvPr>
            <p:ph type="body" idx="1"/>
          </p:nvPr>
        </p:nvSpPr>
        <p:spPr>
          <a:xfrm>
            <a:off x="1529761" y="542256"/>
            <a:ext cx="3365298" cy="576262"/>
          </a:xfrm>
        </p:spPr>
        <p:txBody>
          <a:bodyPr/>
          <a:lstStyle/>
          <a:p>
            <a:r>
              <a:rPr lang="en-AU" sz="1000" b="1" dirty="0"/>
              <a:t>High Segment – Interpretation</a:t>
            </a:r>
          </a:p>
          <a:p>
            <a:endParaRPr lang="en-AU" dirty="0"/>
          </a:p>
        </p:txBody>
      </p:sp>
      <p:sp>
        <p:nvSpPr>
          <p:cNvPr id="3" name="Content Placeholder 2">
            <a:extLst>
              <a:ext uri="{FF2B5EF4-FFF2-40B4-BE49-F238E27FC236}">
                <a16:creationId xmlns:a16="http://schemas.microsoft.com/office/drawing/2014/main" id="{99158831-B0FE-EC02-93D3-395BA58F12BE}"/>
              </a:ext>
            </a:extLst>
          </p:cNvPr>
          <p:cNvSpPr>
            <a:spLocks noGrp="1"/>
          </p:cNvSpPr>
          <p:nvPr>
            <p:ph sz="half" idx="2"/>
          </p:nvPr>
        </p:nvSpPr>
        <p:spPr>
          <a:xfrm>
            <a:off x="1374468" y="830387"/>
            <a:ext cx="3197532" cy="4036258"/>
          </a:xfrm>
        </p:spPr>
        <p:txBody>
          <a:bodyPr>
            <a:normAutofit fontScale="25000" lnSpcReduction="20000"/>
          </a:bodyPr>
          <a:lstStyle/>
          <a:p>
            <a:r>
              <a:rPr lang="en-AU" sz="4000" b="1" dirty="0"/>
              <a:t>Graph behaviour:</a:t>
            </a:r>
          </a:p>
          <a:p>
            <a:r>
              <a:rPr lang="en-AU" sz="4000" dirty="0"/>
              <a:t>Curve rises steadily</a:t>
            </a:r>
          </a:p>
          <a:p>
            <a:r>
              <a:rPr lang="en-AU" sz="4000" dirty="0"/>
              <a:t>Takes ~90–110 DRGs to reach ~80% revenue</a:t>
            </a:r>
          </a:p>
          <a:p>
            <a:r>
              <a:rPr lang="en-AU" sz="4000" dirty="0"/>
              <a:t>Eventually flattens across ~500+ DRGs</a:t>
            </a:r>
          </a:p>
          <a:p>
            <a:r>
              <a:rPr lang="en-AU" sz="4000" b="1" dirty="0"/>
              <a:t>What this means:</a:t>
            </a:r>
          </a:p>
          <a:p>
            <a:r>
              <a:rPr lang="en-AU" sz="4000" dirty="0"/>
              <a:t>The </a:t>
            </a:r>
            <a:r>
              <a:rPr lang="en-AU" sz="4000" b="1" dirty="0"/>
              <a:t>High</a:t>
            </a:r>
            <a:r>
              <a:rPr lang="en-AU" sz="4000" dirty="0"/>
              <a:t> segment is:</a:t>
            </a:r>
          </a:p>
          <a:p>
            <a:pPr lvl="1"/>
            <a:r>
              <a:rPr lang="en-AU" sz="4000" dirty="0"/>
              <a:t>Moderately concentrated</a:t>
            </a:r>
          </a:p>
          <a:p>
            <a:pPr lvl="1"/>
            <a:r>
              <a:rPr lang="en-AU" sz="4000" dirty="0"/>
              <a:t>Revenue spread across many DRGs</a:t>
            </a:r>
          </a:p>
          <a:p>
            <a:pPr lvl="1"/>
            <a:r>
              <a:rPr lang="en-AU" sz="4000" dirty="0"/>
              <a:t>Not dependent on a single DRG</a:t>
            </a:r>
          </a:p>
          <a:p>
            <a:r>
              <a:rPr lang="en-AU" sz="4000" dirty="0"/>
              <a:t>Looking at the table:</a:t>
            </a:r>
          </a:p>
          <a:p>
            <a:r>
              <a:rPr lang="en-AU" sz="4000" dirty="0"/>
              <a:t>Top DRG (I16Z) contributes only ~6% of segment revenue</a:t>
            </a:r>
            <a:br>
              <a:rPr lang="en-AU" sz="4000" dirty="0"/>
            </a:br>
            <a:r>
              <a:rPr lang="en-AU" sz="4000" dirty="0"/>
              <a:t>Top 10 DRGs contribute ~25–30% combined</a:t>
            </a:r>
          </a:p>
          <a:p>
            <a:r>
              <a:rPr lang="en-AU" sz="4000" dirty="0"/>
              <a:t>So:</a:t>
            </a:r>
          </a:p>
          <a:p>
            <a:r>
              <a:rPr lang="en-AU" sz="4000" dirty="0"/>
              <a:t>➡ High-cost cases are diversified</a:t>
            </a:r>
            <a:br>
              <a:rPr lang="en-AU" sz="4000" dirty="0"/>
            </a:br>
            <a:r>
              <a:rPr lang="en-AU" sz="4000" dirty="0"/>
              <a:t>➡ Financial risk is spread</a:t>
            </a:r>
            <a:br>
              <a:rPr lang="en-AU" sz="4000" dirty="0"/>
            </a:br>
            <a:r>
              <a:rPr lang="en-AU" sz="4000" dirty="0"/>
              <a:t>➡ Multiple service lines contribute</a:t>
            </a:r>
          </a:p>
          <a:p>
            <a:endParaRPr lang="en-AU" dirty="0"/>
          </a:p>
        </p:txBody>
      </p:sp>
      <p:sp>
        <p:nvSpPr>
          <p:cNvPr id="6" name="Text Placeholder 5">
            <a:extLst>
              <a:ext uri="{FF2B5EF4-FFF2-40B4-BE49-F238E27FC236}">
                <a16:creationId xmlns:a16="http://schemas.microsoft.com/office/drawing/2014/main" id="{CBBDC55C-6618-93D5-FA60-565DAA62B7D0}"/>
              </a:ext>
            </a:extLst>
          </p:cNvPr>
          <p:cNvSpPr>
            <a:spLocks noGrp="1"/>
          </p:cNvSpPr>
          <p:nvPr>
            <p:ph type="body" sz="quarter" idx="3"/>
          </p:nvPr>
        </p:nvSpPr>
        <p:spPr>
          <a:xfrm>
            <a:off x="4449202" y="542256"/>
            <a:ext cx="3365298" cy="576262"/>
          </a:xfrm>
        </p:spPr>
        <p:txBody>
          <a:bodyPr/>
          <a:lstStyle/>
          <a:p>
            <a:r>
              <a:rPr lang="en-AU" sz="1000" b="1" dirty="0"/>
              <a:t>Very High Segment – Interpretation</a:t>
            </a:r>
          </a:p>
          <a:p>
            <a:endParaRPr lang="en-AU" dirty="0"/>
          </a:p>
        </p:txBody>
      </p:sp>
      <p:sp>
        <p:nvSpPr>
          <p:cNvPr id="7" name="Content Placeholder 6">
            <a:extLst>
              <a:ext uri="{FF2B5EF4-FFF2-40B4-BE49-F238E27FC236}">
                <a16:creationId xmlns:a16="http://schemas.microsoft.com/office/drawing/2014/main" id="{F892889B-3749-8CD2-CE8D-20D38D3AAF71}"/>
              </a:ext>
            </a:extLst>
          </p:cNvPr>
          <p:cNvSpPr>
            <a:spLocks noGrp="1"/>
          </p:cNvSpPr>
          <p:nvPr>
            <p:ph sz="quarter" idx="4"/>
          </p:nvPr>
        </p:nvSpPr>
        <p:spPr>
          <a:xfrm>
            <a:off x="4449202" y="756952"/>
            <a:ext cx="4694798" cy="6039774"/>
          </a:xfrm>
        </p:spPr>
        <p:txBody>
          <a:bodyPr>
            <a:noAutofit/>
          </a:bodyPr>
          <a:lstStyle/>
          <a:p>
            <a:pPr>
              <a:buNone/>
            </a:pPr>
            <a:r>
              <a:rPr lang="en-AU" sz="1000" b="1" dirty="0"/>
              <a:t>Graph behaviour:</a:t>
            </a:r>
          </a:p>
          <a:p>
            <a:pPr>
              <a:buFont typeface="Arial" panose="020B0604020202020204" pitchFamily="34" charset="0"/>
              <a:buChar char="•"/>
            </a:pPr>
            <a:r>
              <a:rPr lang="en-AU" sz="1000" dirty="0"/>
              <a:t>Extremely steep initial rise</a:t>
            </a:r>
          </a:p>
          <a:p>
            <a:pPr>
              <a:buFont typeface="Arial" panose="020B0604020202020204" pitchFamily="34" charset="0"/>
              <a:buChar char="•"/>
            </a:pPr>
            <a:r>
              <a:rPr lang="en-AU" sz="1000" dirty="0"/>
              <a:t>~1 DRG already ~30%</a:t>
            </a:r>
          </a:p>
          <a:p>
            <a:pPr>
              <a:buFont typeface="Arial" panose="020B0604020202020204" pitchFamily="34" charset="0"/>
              <a:buChar char="•"/>
            </a:pPr>
            <a:r>
              <a:rPr lang="en-AU" sz="1000" dirty="0"/>
              <a:t>Top 3 DRGs ≈ 50%</a:t>
            </a:r>
          </a:p>
          <a:p>
            <a:pPr>
              <a:buFont typeface="Arial" panose="020B0604020202020204" pitchFamily="34" charset="0"/>
              <a:buChar char="•"/>
            </a:pPr>
            <a:r>
              <a:rPr lang="en-AU" sz="1000" dirty="0"/>
              <a:t>~40–50 DRGs get you to 80%</a:t>
            </a:r>
          </a:p>
          <a:p>
            <a:pPr>
              <a:buFont typeface="Arial" panose="020B0604020202020204" pitchFamily="34" charset="0"/>
              <a:buChar char="•"/>
            </a:pPr>
            <a:r>
              <a:rPr lang="en-AU" sz="1000" dirty="0"/>
              <a:t>Then completely flattens</a:t>
            </a:r>
          </a:p>
          <a:p>
            <a:pPr>
              <a:buNone/>
            </a:pPr>
            <a:r>
              <a:rPr lang="en-AU" sz="1000" dirty="0"/>
              <a:t>This is strong concentration.</a:t>
            </a:r>
          </a:p>
          <a:p>
            <a:pPr>
              <a:buNone/>
            </a:pPr>
            <a:r>
              <a:rPr lang="en-AU" sz="1000" b="1" dirty="0"/>
              <a:t>The Critical Finding In Very High:</a:t>
            </a:r>
          </a:p>
          <a:p>
            <a:pPr>
              <a:buNone/>
            </a:pPr>
            <a:r>
              <a:rPr lang="en-AU" sz="1000" dirty="0"/>
              <a:t>Top DRG = I04B</a:t>
            </a:r>
            <a:br>
              <a:rPr lang="en-AU" sz="1000" dirty="0"/>
            </a:br>
            <a:r>
              <a:rPr lang="en-AU" sz="1000" dirty="0"/>
              <a:t>Revenue share = ~30%</a:t>
            </a:r>
          </a:p>
          <a:p>
            <a:pPr>
              <a:buNone/>
            </a:pPr>
            <a:r>
              <a:rPr lang="en-AU" sz="1000" dirty="0"/>
              <a:t>That is huge.</a:t>
            </a:r>
          </a:p>
          <a:p>
            <a:pPr>
              <a:buNone/>
            </a:pPr>
            <a:r>
              <a:rPr lang="en-AU" sz="1000" dirty="0"/>
              <a:t>Top 3 DRGs:</a:t>
            </a:r>
          </a:p>
          <a:p>
            <a:pPr>
              <a:buFont typeface="Arial" panose="020B0604020202020204" pitchFamily="34" charset="0"/>
              <a:buChar char="•"/>
            </a:pPr>
            <a:r>
              <a:rPr lang="en-AU" sz="1000" dirty="0"/>
              <a:t>I04B (~30%)</a:t>
            </a:r>
          </a:p>
          <a:p>
            <a:pPr>
              <a:buFont typeface="Arial" panose="020B0604020202020204" pitchFamily="34" charset="0"/>
              <a:buChar char="•"/>
            </a:pPr>
            <a:r>
              <a:rPr lang="en-AU" sz="1000" dirty="0"/>
              <a:t>I33B (~11%)</a:t>
            </a:r>
          </a:p>
          <a:p>
            <a:pPr>
              <a:buFont typeface="Arial" panose="020B0604020202020204" pitchFamily="34" charset="0"/>
              <a:buChar char="•"/>
            </a:pPr>
            <a:r>
              <a:rPr lang="en-AU" sz="1000" dirty="0"/>
              <a:t>I03B (~8.6%)</a:t>
            </a:r>
          </a:p>
          <a:p>
            <a:pPr>
              <a:buNone/>
            </a:pPr>
            <a:r>
              <a:rPr lang="en-AU" sz="1000" dirty="0"/>
              <a:t>Together ≈ 50% of Very High revenue.</a:t>
            </a:r>
          </a:p>
          <a:p>
            <a:pPr>
              <a:buNone/>
            </a:pPr>
            <a:r>
              <a:rPr lang="en-AU" sz="1000" dirty="0"/>
              <a:t>That means:</a:t>
            </a:r>
          </a:p>
          <a:p>
            <a:pPr>
              <a:buNone/>
            </a:pPr>
            <a:r>
              <a:rPr lang="en-AU" sz="1000" dirty="0"/>
              <a:t>Half of the most expensive revenue comes from 3 DRGs.</a:t>
            </a:r>
          </a:p>
          <a:p>
            <a:pPr marL="0" indent="0">
              <a:buNone/>
            </a:pPr>
            <a:r>
              <a:rPr lang="en-AU" sz="1000" b="1" dirty="0"/>
              <a:t>Very High is:</a:t>
            </a:r>
          </a:p>
          <a:p>
            <a:r>
              <a:rPr lang="en-AU" sz="1000" dirty="0"/>
              <a:t>More extreme financially</a:t>
            </a:r>
          </a:p>
          <a:p>
            <a:r>
              <a:rPr lang="en-AU" sz="1000" dirty="0"/>
              <a:t>Driven by specific complex procedures</a:t>
            </a:r>
          </a:p>
          <a:p>
            <a:r>
              <a:rPr lang="en-AU" sz="1000" dirty="0"/>
              <a:t>Likely cardiac / transplant / major surgical DRGs (based on I-codes)</a:t>
            </a:r>
          </a:p>
        </p:txBody>
      </p:sp>
    </p:spTree>
    <p:extLst>
      <p:ext uri="{BB962C8B-B14F-4D97-AF65-F5344CB8AC3E}">
        <p14:creationId xmlns:p14="http://schemas.microsoft.com/office/powerpoint/2010/main" val="3687733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1AFAF-8A74-2C35-4424-F8CEA6167201}"/>
              </a:ext>
            </a:extLst>
          </p:cNvPr>
          <p:cNvSpPr>
            <a:spLocks noGrp="1"/>
          </p:cNvSpPr>
          <p:nvPr>
            <p:ph type="title"/>
          </p:nvPr>
        </p:nvSpPr>
        <p:spPr/>
        <p:txBody>
          <a:bodyPr/>
          <a:lstStyle/>
          <a:p>
            <a:r>
              <a:rPr lang="en-AU" dirty="0"/>
              <a:t>Urgency analysis</a:t>
            </a:r>
          </a:p>
        </p:txBody>
      </p:sp>
      <p:pic>
        <p:nvPicPr>
          <p:cNvPr id="5" name="Picture 4">
            <a:extLst>
              <a:ext uri="{FF2B5EF4-FFF2-40B4-BE49-F238E27FC236}">
                <a16:creationId xmlns:a16="http://schemas.microsoft.com/office/drawing/2014/main" id="{0FCBC6EF-27C6-D6D4-E0BE-15970023F565}"/>
              </a:ext>
            </a:extLst>
          </p:cNvPr>
          <p:cNvPicPr>
            <a:picLocks noChangeAspect="1"/>
          </p:cNvPicPr>
          <p:nvPr/>
        </p:nvPicPr>
        <p:blipFill>
          <a:blip r:embed="rId2"/>
          <a:stretch>
            <a:fillRect/>
          </a:stretch>
        </p:blipFill>
        <p:spPr>
          <a:xfrm>
            <a:off x="604767" y="1417638"/>
            <a:ext cx="7054900" cy="3891072"/>
          </a:xfrm>
          <a:prstGeom prst="rect">
            <a:avLst/>
          </a:prstGeom>
        </p:spPr>
      </p:pic>
      <p:sp>
        <p:nvSpPr>
          <p:cNvPr id="7" name="TextBox 6">
            <a:extLst>
              <a:ext uri="{FF2B5EF4-FFF2-40B4-BE49-F238E27FC236}">
                <a16:creationId xmlns:a16="http://schemas.microsoft.com/office/drawing/2014/main" id="{A59EE88C-4058-82D3-6CC9-44F24F333530}"/>
              </a:ext>
            </a:extLst>
          </p:cNvPr>
          <p:cNvSpPr txBox="1"/>
          <p:nvPr/>
        </p:nvSpPr>
        <p:spPr>
          <a:xfrm>
            <a:off x="1225485" y="5563999"/>
            <a:ext cx="7876094" cy="769441"/>
          </a:xfrm>
          <a:prstGeom prst="rect">
            <a:avLst/>
          </a:prstGeom>
          <a:noFill/>
        </p:spPr>
        <p:txBody>
          <a:bodyPr wrap="square">
            <a:spAutoFit/>
          </a:bodyPr>
          <a:lstStyle/>
          <a:p>
            <a:r>
              <a:rPr lang="en-AU" sz="1100" dirty="0"/>
              <a:t>High and Very High cost episodes are predominantly elective rather than emergency-driven.</a:t>
            </a:r>
            <a:br>
              <a:rPr lang="en-AU" sz="1100" dirty="0"/>
            </a:br>
            <a:r>
              <a:rPr lang="en-AU" sz="1100" dirty="0"/>
              <a:t>This indicates that revenue concentration is driven by scheduled major procedures rather than acute complexity.</a:t>
            </a:r>
            <a:br>
              <a:rPr lang="en-AU" sz="1100" dirty="0"/>
            </a:br>
            <a:r>
              <a:rPr lang="en-AU" sz="1100" dirty="0"/>
              <a:t>As a result, theatre capacity, specialist workforce, prosthesis management, and contract optimisation represent key strategic levers for financial performance.</a:t>
            </a:r>
          </a:p>
        </p:txBody>
      </p:sp>
      <p:sp>
        <p:nvSpPr>
          <p:cNvPr id="9" name="TextBox 8">
            <a:extLst>
              <a:ext uri="{FF2B5EF4-FFF2-40B4-BE49-F238E27FC236}">
                <a16:creationId xmlns:a16="http://schemas.microsoft.com/office/drawing/2014/main" id="{950779FC-0F7F-2BA8-904D-3AD255276980}"/>
              </a:ext>
            </a:extLst>
          </p:cNvPr>
          <p:cNvSpPr txBox="1"/>
          <p:nvPr/>
        </p:nvSpPr>
        <p:spPr>
          <a:xfrm>
            <a:off x="6061165" y="3429000"/>
            <a:ext cx="2773679" cy="1200329"/>
          </a:xfrm>
          <a:prstGeom prst="rect">
            <a:avLst/>
          </a:prstGeom>
          <a:noFill/>
        </p:spPr>
        <p:txBody>
          <a:bodyPr wrap="square">
            <a:spAutoFit/>
          </a:bodyPr>
          <a:lstStyle/>
          <a:p>
            <a:pPr>
              <a:buNone/>
            </a:pPr>
            <a:r>
              <a:rPr lang="en-AU" sz="1200" dirty="0"/>
              <a:t>Emergency proportion increases sharply from:</a:t>
            </a:r>
            <a:br>
              <a:rPr lang="en-AU" sz="1200" dirty="0"/>
            </a:br>
            <a:r>
              <a:rPr lang="en-AU" sz="1200" dirty="0"/>
              <a:t>0.16% → 12.5%</a:t>
            </a:r>
          </a:p>
          <a:p>
            <a:pPr>
              <a:buNone/>
            </a:pPr>
            <a:r>
              <a:rPr lang="en-AU" sz="1200" dirty="0"/>
              <a:t>So complexity </a:t>
            </a:r>
            <a:r>
              <a:rPr lang="en-AU" sz="1200" i="1" dirty="0"/>
              <a:t>does</a:t>
            </a:r>
            <a:r>
              <a:rPr lang="en-AU" sz="1200" dirty="0"/>
              <a:t> rise with cost —</a:t>
            </a:r>
            <a:br>
              <a:rPr lang="en-AU" sz="1200" dirty="0"/>
            </a:br>
            <a:r>
              <a:rPr lang="en-AU" sz="1200" dirty="0"/>
              <a:t>but the majority of revenue still comes from elective pathways.</a:t>
            </a:r>
          </a:p>
        </p:txBody>
      </p:sp>
    </p:spTree>
    <p:extLst>
      <p:ext uri="{BB962C8B-B14F-4D97-AF65-F5344CB8AC3E}">
        <p14:creationId xmlns:p14="http://schemas.microsoft.com/office/powerpoint/2010/main" val="2014608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7DAC5-E794-F964-2E14-D097951FA618}"/>
              </a:ext>
            </a:extLst>
          </p:cNvPr>
          <p:cNvSpPr>
            <a:spLocks noGrp="1"/>
          </p:cNvSpPr>
          <p:nvPr>
            <p:ph type="title"/>
          </p:nvPr>
        </p:nvSpPr>
        <p:spPr/>
        <p:txBody>
          <a:bodyPr/>
          <a:lstStyle/>
          <a:p>
            <a:r>
              <a:rPr lang="en-AU" dirty="0"/>
              <a:t>Care Type analysis</a:t>
            </a:r>
          </a:p>
        </p:txBody>
      </p:sp>
      <p:pic>
        <p:nvPicPr>
          <p:cNvPr id="5" name="Picture 4">
            <a:extLst>
              <a:ext uri="{FF2B5EF4-FFF2-40B4-BE49-F238E27FC236}">
                <a16:creationId xmlns:a16="http://schemas.microsoft.com/office/drawing/2014/main" id="{FFDD17A1-3633-4061-6385-D6E8DAB78AC1}"/>
              </a:ext>
            </a:extLst>
          </p:cNvPr>
          <p:cNvPicPr>
            <a:picLocks noChangeAspect="1"/>
          </p:cNvPicPr>
          <p:nvPr/>
        </p:nvPicPr>
        <p:blipFill>
          <a:blip r:embed="rId3"/>
          <a:stretch>
            <a:fillRect/>
          </a:stretch>
        </p:blipFill>
        <p:spPr>
          <a:xfrm>
            <a:off x="83127" y="1248359"/>
            <a:ext cx="8080105" cy="3846155"/>
          </a:xfrm>
          <a:prstGeom prst="rect">
            <a:avLst/>
          </a:prstGeom>
        </p:spPr>
      </p:pic>
      <p:sp>
        <p:nvSpPr>
          <p:cNvPr id="7" name="TextBox 6">
            <a:extLst>
              <a:ext uri="{FF2B5EF4-FFF2-40B4-BE49-F238E27FC236}">
                <a16:creationId xmlns:a16="http://schemas.microsoft.com/office/drawing/2014/main" id="{58F417C2-8767-7713-29BC-0965EFFE5694}"/>
              </a:ext>
            </a:extLst>
          </p:cNvPr>
          <p:cNvSpPr txBox="1"/>
          <p:nvPr/>
        </p:nvSpPr>
        <p:spPr>
          <a:xfrm>
            <a:off x="6456021" y="2705065"/>
            <a:ext cx="2687979" cy="1754326"/>
          </a:xfrm>
          <a:prstGeom prst="rect">
            <a:avLst/>
          </a:prstGeom>
          <a:noFill/>
        </p:spPr>
        <p:txBody>
          <a:bodyPr wrap="square">
            <a:spAutoFit/>
          </a:bodyPr>
          <a:lstStyle/>
          <a:p>
            <a:r>
              <a:rPr lang="en-AU" sz="1200" dirty="0"/>
              <a:t>The high-cost concentration is almost entirely within acute admitted care pathways, with a small but increasing contribution from palliative episodes in the Very High segment.</a:t>
            </a:r>
            <a:br>
              <a:rPr lang="en-AU" sz="1200" dirty="0"/>
            </a:br>
            <a:r>
              <a:rPr lang="en-AU" sz="1200" dirty="0"/>
              <a:t>This indicates that revenue concentration is driven by core hospital service lines rather than subacute or maintenance services.</a:t>
            </a:r>
          </a:p>
        </p:txBody>
      </p:sp>
      <p:sp>
        <p:nvSpPr>
          <p:cNvPr id="9" name="TextBox 8">
            <a:extLst>
              <a:ext uri="{FF2B5EF4-FFF2-40B4-BE49-F238E27FC236}">
                <a16:creationId xmlns:a16="http://schemas.microsoft.com/office/drawing/2014/main" id="{4651D0AF-45F3-0D1B-D9A9-2C9233B8B4C7}"/>
              </a:ext>
            </a:extLst>
          </p:cNvPr>
          <p:cNvSpPr txBox="1"/>
          <p:nvPr/>
        </p:nvSpPr>
        <p:spPr>
          <a:xfrm>
            <a:off x="2290714" y="5316202"/>
            <a:ext cx="6354666" cy="1384995"/>
          </a:xfrm>
          <a:prstGeom prst="rect">
            <a:avLst/>
          </a:prstGeom>
          <a:noFill/>
        </p:spPr>
        <p:txBody>
          <a:bodyPr wrap="square">
            <a:spAutoFit/>
          </a:bodyPr>
          <a:lstStyle/>
          <a:p>
            <a:pPr>
              <a:buNone/>
            </a:pPr>
            <a:r>
              <a:rPr lang="en-AU" sz="1200" dirty="0"/>
              <a:t>Recommendation:</a:t>
            </a:r>
          </a:p>
          <a:p>
            <a:pPr>
              <a:buFont typeface="Arial" panose="020B0604020202020204" pitchFamily="34" charset="0"/>
              <a:buChar char="•"/>
            </a:pPr>
            <a:r>
              <a:rPr lang="en-AU" sz="1200" dirty="0"/>
              <a:t>Investment focus should remain on acute service optimisation.</a:t>
            </a:r>
          </a:p>
          <a:p>
            <a:pPr>
              <a:buFont typeface="Arial" panose="020B0604020202020204" pitchFamily="34" charset="0"/>
              <a:buChar char="•"/>
            </a:pPr>
            <a:r>
              <a:rPr lang="en-AU" sz="1200" dirty="0"/>
              <a:t>Palliative pathways in high-cost segments may require:</a:t>
            </a:r>
          </a:p>
          <a:p>
            <a:pPr marL="742950" lvl="1" indent="-285750">
              <a:buFont typeface="Arial" panose="020B0604020202020204" pitchFamily="34" charset="0"/>
              <a:buChar char="•"/>
            </a:pPr>
            <a:r>
              <a:rPr lang="en-AU" sz="1200" dirty="0"/>
              <a:t>LOS management</a:t>
            </a:r>
          </a:p>
          <a:p>
            <a:pPr marL="742950" lvl="1" indent="-285750">
              <a:buFont typeface="Arial" panose="020B0604020202020204" pitchFamily="34" charset="0"/>
              <a:buChar char="•"/>
            </a:pPr>
            <a:r>
              <a:rPr lang="en-AU" sz="1200" dirty="0"/>
              <a:t>Care coordination optimisation</a:t>
            </a:r>
          </a:p>
          <a:p>
            <a:pPr marL="742950" lvl="1" indent="-285750">
              <a:buFont typeface="Arial" panose="020B0604020202020204" pitchFamily="34" charset="0"/>
              <a:buChar char="•"/>
            </a:pPr>
            <a:r>
              <a:rPr lang="en-AU" sz="1200" dirty="0"/>
              <a:t>Appropriate billing validation</a:t>
            </a:r>
          </a:p>
          <a:p>
            <a:pPr>
              <a:buFont typeface="Arial" panose="020B0604020202020204" pitchFamily="34" charset="0"/>
              <a:buChar char="•"/>
            </a:pPr>
            <a:r>
              <a:rPr lang="en-AU" sz="1200" dirty="0"/>
              <a:t>No evidence that rehab or maintenance is distorting cost distribution.</a:t>
            </a:r>
          </a:p>
        </p:txBody>
      </p:sp>
    </p:spTree>
    <p:extLst>
      <p:ext uri="{BB962C8B-B14F-4D97-AF65-F5344CB8AC3E}">
        <p14:creationId xmlns:p14="http://schemas.microsoft.com/office/powerpoint/2010/main" val="87921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065E8-2EA0-4B6B-0EC1-202D43A60725}"/>
              </a:ext>
            </a:extLst>
          </p:cNvPr>
          <p:cNvSpPr>
            <a:spLocks noGrp="1"/>
          </p:cNvSpPr>
          <p:nvPr>
            <p:ph type="title"/>
          </p:nvPr>
        </p:nvSpPr>
        <p:spPr>
          <a:xfrm>
            <a:off x="484079" y="1485723"/>
            <a:ext cx="2343114" cy="3736540"/>
          </a:xfrm>
        </p:spPr>
        <p:txBody>
          <a:bodyPr vert="horz" lIns="91440" tIns="45720" rIns="91440" bIns="45720" rtlCol="0" anchor="b">
            <a:normAutofit fontScale="90000"/>
          </a:bodyPr>
          <a:lstStyle/>
          <a:p>
            <a:pPr algn="l" defTabSz="914400">
              <a:lnSpc>
                <a:spcPct val="90000"/>
              </a:lnSpc>
            </a:pPr>
            <a:r>
              <a:rPr lang="en-US" sz="3400" dirty="0"/>
              <a:t>Part III: Advanced analytics -Modelling (XGBOOST): total charge prediction</a:t>
            </a:r>
          </a:p>
        </p:txBody>
      </p:sp>
      <p:pic>
        <p:nvPicPr>
          <p:cNvPr id="7" name="Picture 6">
            <a:extLst>
              <a:ext uri="{FF2B5EF4-FFF2-40B4-BE49-F238E27FC236}">
                <a16:creationId xmlns:a16="http://schemas.microsoft.com/office/drawing/2014/main" id="{6E609339-4297-769D-E7FC-CC7B9AADF679}"/>
              </a:ext>
            </a:extLst>
          </p:cNvPr>
          <p:cNvPicPr>
            <a:picLocks noChangeAspect="1"/>
          </p:cNvPicPr>
          <p:nvPr/>
        </p:nvPicPr>
        <p:blipFill>
          <a:blip r:embed="rId2"/>
          <a:stretch>
            <a:fillRect/>
          </a:stretch>
        </p:blipFill>
        <p:spPr>
          <a:xfrm>
            <a:off x="3132155" y="972235"/>
            <a:ext cx="2460770" cy="5047735"/>
          </a:xfrm>
          <a:prstGeom prst="rect">
            <a:avLst/>
          </a:prstGeom>
        </p:spPr>
      </p:pic>
      <p:pic>
        <p:nvPicPr>
          <p:cNvPr id="5" name="Picture 4">
            <a:extLst>
              <a:ext uri="{FF2B5EF4-FFF2-40B4-BE49-F238E27FC236}">
                <a16:creationId xmlns:a16="http://schemas.microsoft.com/office/drawing/2014/main" id="{75843D75-51ED-1BE6-EF45-EC325C60FA6A}"/>
              </a:ext>
            </a:extLst>
          </p:cNvPr>
          <p:cNvPicPr>
            <a:picLocks noChangeAspect="1"/>
          </p:cNvPicPr>
          <p:nvPr/>
        </p:nvPicPr>
        <p:blipFill>
          <a:blip r:embed="rId3"/>
          <a:stretch>
            <a:fillRect/>
          </a:stretch>
        </p:blipFill>
        <p:spPr>
          <a:xfrm>
            <a:off x="5859267" y="1067911"/>
            <a:ext cx="2537460" cy="4856382"/>
          </a:xfrm>
          <a:prstGeom prst="rect">
            <a:avLst/>
          </a:prstGeom>
        </p:spPr>
      </p:pic>
    </p:spTree>
    <p:extLst>
      <p:ext uri="{BB962C8B-B14F-4D97-AF65-F5344CB8AC3E}">
        <p14:creationId xmlns:p14="http://schemas.microsoft.com/office/powerpoint/2010/main" val="1271993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FA2FB-ADC2-8DBC-09BA-9DD92A7957BF}"/>
              </a:ext>
            </a:extLst>
          </p:cNvPr>
          <p:cNvSpPr>
            <a:spLocks noGrp="1"/>
          </p:cNvSpPr>
          <p:nvPr>
            <p:ph type="title"/>
          </p:nvPr>
        </p:nvSpPr>
        <p:spPr/>
        <p:txBody>
          <a:bodyPr/>
          <a:lstStyle/>
          <a:p>
            <a:r>
              <a:rPr lang="en-AU" dirty="0"/>
              <a:t>Motivation</a:t>
            </a:r>
          </a:p>
        </p:txBody>
      </p:sp>
      <p:sp>
        <p:nvSpPr>
          <p:cNvPr id="3" name="Content Placeholder 2">
            <a:extLst>
              <a:ext uri="{FF2B5EF4-FFF2-40B4-BE49-F238E27FC236}">
                <a16:creationId xmlns:a16="http://schemas.microsoft.com/office/drawing/2014/main" id="{282AEFE9-D69F-1FCC-1F0B-3CC02149D036}"/>
              </a:ext>
            </a:extLst>
          </p:cNvPr>
          <p:cNvSpPr>
            <a:spLocks noGrp="1"/>
          </p:cNvSpPr>
          <p:nvPr>
            <p:ph idx="1"/>
          </p:nvPr>
        </p:nvSpPr>
        <p:spPr>
          <a:xfrm>
            <a:off x="457200" y="1600200"/>
            <a:ext cx="8229600" cy="4040579"/>
          </a:xfrm>
        </p:spPr>
        <p:txBody>
          <a:bodyPr>
            <a:normAutofit fontScale="62500" lnSpcReduction="20000"/>
          </a:bodyPr>
          <a:lstStyle/>
          <a:p>
            <a:r>
              <a:rPr lang="en-AU" b="1" dirty="0"/>
              <a:t>Motivation for a Predictive Episode Cost Model</a:t>
            </a:r>
          </a:p>
          <a:p>
            <a:r>
              <a:rPr lang="en-AU" dirty="0"/>
              <a:t>Traditional reporting shows what was spent, but not whether it was expected</a:t>
            </a:r>
            <a:endParaRPr lang="en-AU" b="1" dirty="0"/>
          </a:p>
          <a:p>
            <a:r>
              <a:rPr lang="en-AU" dirty="0"/>
              <a:t>Hospital episode costs vary significantly, even within similar clinical groups</a:t>
            </a:r>
          </a:p>
          <a:p>
            <a:r>
              <a:rPr lang="en-AU" dirty="0"/>
              <a:t>A small proportion of cases drive a disproportionate share of total expenditure</a:t>
            </a:r>
          </a:p>
          <a:p>
            <a:r>
              <a:rPr lang="en-AU" dirty="0"/>
              <a:t>Raw cost comparison does not account for clinical complexity or case mix</a:t>
            </a:r>
          </a:p>
          <a:p>
            <a:r>
              <a:rPr lang="en-AU" b="1" dirty="0"/>
              <a:t>Why a Predictive Model Is Needed</a:t>
            </a:r>
          </a:p>
          <a:p>
            <a:r>
              <a:rPr lang="en-AU" dirty="0"/>
              <a:t>Establishes a </a:t>
            </a:r>
            <a:r>
              <a:rPr lang="en-AU" b="1" dirty="0"/>
              <a:t>risk-adjusted expected cost baseline</a:t>
            </a:r>
            <a:endParaRPr lang="en-AU" dirty="0"/>
          </a:p>
          <a:p>
            <a:r>
              <a:rPr lang="en-AU" dirty="0"/>
              <a:t>Enables fair comparison across sites and pathways</a:t>
            </a:r>
          </a:p>
          <a:p>
            <a:r>
              <a:rPr lang="en-AU" dirty="0"/>
              <a:t>Distinguishes legitimate complexity from unexplained cost variation</a:t>
            </a:r>
          </a:p>
          <a:p>
            <a:r>
              <a:rPr lang="en-AU" dirty="0"/>
              <a:t>Identifies high-cost outliers for targeted review</a:t>
            </a:r>
          </a:p>
          <a:p>
            <a:r>
              <a:rPr lang="en-AU" b="1" dirty="0"/>
              <a:t>Strategic Objectives</a:t>
            </a:r>
          </a:p>
          <a:p>
            <a:r>
              <a:rPr lang="en-AU" dirty="0"/>
              <a:t>Improve financial oversight and contract management</a:t>
            </a:r>
          </a:p>
          <a:p>
            <a:r>
              <a:rPr lang="en-AU" dirty="0"/>
              <a:t>Support data-driven negotiation with insurers and providers</a:t>
            </a:r>
          </a:p>
          <a:p>
            <a:r>
              <a:rPr lang="en-AU" dirty="0"/>
              <a:t>Highlight operational inefficiencies in moderate-acuity care</a:t>
            </a:r>
          </a:p>
          <a:p>
            <a:r>
              <a:rPr lang="en-AU" dirty="0"/>
              <a:t>Shift from reactive auditing to proactive risk management</a:t>
            </a:r>
          </a:p>
        </p:txBody>
      </p:sp>
    </p:spTree>
    <p:extLst>
      <p:ext uri="{BB962C8B-B14F-4D97-AF65-F5344CB8AC3E}">
        <p14:creationId xmlns:p14="http://schemas.microsoft.com/office/powerpoint/2010/main" val="636630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647F-C66D-83BD-069C-2E4A6FC33EAA}"/>
              </a:ext>
            </a:extLst>
          </p:cNvPr>
          <p:cNvSpPr>
            <a:spLocks noGrp="1"/>
          </p:cNvSpPr>
          <p:nvPr>
            <p:ph type="title"/>
          </p:nvPr>
        </p:nvSpPr>
        <p:spPr/>
        <p:txBody>
          <a:bodyPr/>
          <a:lstStyle/>
          <a:p>
            <a:r>
              <a:rPr lang="en-AU" dirty="0"/>
              <a:t>Hypotheses</a:t>
            </a:r>
          </a:p>
        </p:txBody>
      </p:sp>
      <p:sp>
        <p:nvSpPr>
          <p:cNvPr id="3" name="Content Placeholder 2">
            <a:extLst>
              <a:ext uri="{FF2B5EF4-FFF2-40B4-BE49-F238E27FC236}">
                <a16:creationId xmlns:a16="http://schemas.microsoft.com/office/drawing/2014/main" id="{62B73761-05AA-0B00-428E-7A684F1D3020}"/>
              </a:ext>
            </a:extLst>
          </p:cNvPr>
          <p:cNvSpPr>
            <a:spLocks noGrp="1"/>
          </p:cNvSpPr>
          <p:nvPr>
            <p:ph idx="1"/>
          </p:nvPr>
        </p:nvSpPr>
        <p:spPr/>
        <p:txBody>
          <a:bodyPr>
            <a:normAutofit fontScale="92500" lnSpcReduction="10000"/>
          </a:bodyPr>
          <a:lstStyle/>
          <a:p>
            <a:r>
              <a:rPr lang="en-AU" dirty="0"/>
              <a:t>Episode-level hospital charges can be accurately predicted using clinical and operational characteristics (e.g. DRG, procedures, theatre use, LOS).</a:t>
            </a:r>
          </a:p>
          <a:p>
            <a:r>
              <a:rPr lang="en-AU" dirty="0"/>
              <a:t>A risk-adjusted predictive model will explain the majority of cost variation across episodes.</a:t>
            </a:r>
          </a:p>
          <a:p>
            <a:r>
              <a:rPr lang="en-AU" dirty="0"/>
              <a:t>Episodes that materially exceed predicted cost represent statistically identifiable outliers.</a:t>
            </a:r>
          </a:p>
          <a:p>
            <a:r>
              <a:rPr lang="en-AU" dirty="0"/>
              <a:t>High-cost outliers will be concentrated in high-complexity (Very High) segments.</a:t>
            </a:r>
          </a:p>
          <a:p>
            <a:r>
              <a:rPr lang="en-AU" dirty="0"/>
              <a:t>Efficiency variation (low-cost outliers) will be more visible in moderate-acuity (Medium) segments.</a:t>
            </a:r>
          </a:p>
          <a:p>
            <a:r>
              <a:rPr lang="en-AU" dirty="0"/>
              <a:t>Risk-adjusted benchmarking will provide more meaningful financial insight than raw cost comparison.</a:t>
            </a:r>
          </a:p>
          <a:p>
            <a:endParaRPr lang="en-AU" dirty="0"/>
          </a:p>
        </p:txBody>
      </p:sp>
    </p:spTree>
    <p:extLst>
      <p:ext uri="{BB962C8B-B14F-4D97-AF65-F5344CB8AC3E}">
        <p14:creationId xmlns:p14="http://schemas.microsoft.com/office/powerpoint/2010/main" val="4151336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F6D6-5A4A-ACEF-A3EF-BEE2A3D91BAA}"/>
              </a:ext>
            </a:extLst>
          </p:cNvPr>
          <p:cNvSpPr>
            <a:spLocks noGrp="1"/>
          </p:cNvSpPr>
          <p:nvPr>
            <p:ph type="title"/>
          </p:nvPr>
        </p:nvSpPr>
        <p:spPr/>
        <p:txBody>
          <a:bodyPr/>
          <a:lstStyle/>
          <a:p>
            <a:r>
              <a:rPr lang="en-AU" dirty="0"/>
              <a:t>Methodology</a:t>
            </a:r>
          </a:p>
        </p:txBody>
      </p:sp>
      <p:sp>
        <p:nvSpPr>
          <p:cNvPr id="6" name="Rectangle 3">
            <a:extLst>
              <a:ext uri="{FF2B5EF4-FFF2-40B4-BE49-F238E27FC236}">
                <a16:creationId xmlns:a16="http://schemas.microsoft.com/office/drawing/2014/main" id="{A6C0210A-61ED-1709-C8ED-6C510C7A1713}"/>
              </a:ext>
            </a:extLst>
          </p:cNvPr>
          <p:cNvSpPr>
            <a:spLocks noGrp="1" noChangeArrowheads="1"/>
          </p:cNvSpPr>
          <p:nvPr>
            <p:ph idx="1"/>
          </p:nvPr>
        </p:nvSpPr>
        <p:spPr bwMode="auto">
          <a:xfrm>
            <a:off x="1017131" y="1550237"/>
            <a:ext cx="7931376" cy="4050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fontAlgn="base">
              <a:lnSpc>
                <a:spcPct val="90000"/>
              </a:lnSpc>
              <a:buSzTx/>
              <a:tabLst/>
            </a:pPr>
            <a:r>
              <a:rPr lang="en-US" altLang="en-US" sz="1700" dirty="0"/>
              <a:t>~30,000 hospital episodes </a:t>
            </a:r>
            <a:r>
              <a:rPr lang="en-US" altLang="en-US" sz="1700" dirty="0" err="1"/>
              <a:t>analysed</a:t>
            </a:r>
            <a:endParaRPr lang="en-US" altLang="en-US" sz="1700" dirty="0"/>
          </a:p>
          <a:p>
            <a:pPr marR="0" lvl="0" fontAlgn="base">
              <a:lnSpc>
                <a:spcPct val="90000"/>
              </a:lnSpc>
              <a:buSzTx/>
              <a:tabLst/>
            </a:pPr>
            <a:r>
              <a:rPr lang="en-US" altLang="en-US" sz="1700" dirty="0"/>
              <a:t>Episode-level data including DRG, procedures, theatre use, LOS, demographics</a:t>
            </a:r>
          </a:p>
          <a:p>
            <a:pPr marR="0" lvl="0" fontAlgn="base">
              <a:lnSpc>
                <a:spcPct val="90000"/>
              </a:lnSpc>
              <a:buSzTx/>
              <a:tabLst/>
            </a:pPr>
            <a:r>
              <a:rPr lang="en-US" altLang="en-US" sz="1700" dirty="0"/>
              <a:t>Target variable: total hospital charges (log-transformed for modelling stability)</a:t>
            </a:r>
          </a:p>
          <a:p>
            <a:pPr marR="0" lvl="0" fontAlgn="base">
              <a:lnSpc>
                <a:spcPct val="90000"/>
              </a:lnSpc>
              <a:buSzTx/>
              <a:tabLst/>
            </a:pPr>
            <a:r>
              <a:rPr lang="en-US" altLang="en-US" sz="1700" dirty="0"/>
              <a:t>Captures variation across low, medium, high and very high cost segments</a:t>
            </a:r>
          </a:p>
          <a:p>
            <a:pPr marR="0" lvl="0" fontAlgn="base">
              <a:lnSpc>
                <a:spcPct val="90000"/>
              </a:lnSpc>
              <a:buSzTx/>
              <a:tabLst/>
            </a:pPr>
            <a:r>
              <a:rPr lang="en-US" altLang="en-US" sz="1700" dirty="0" err="1"/>
              <a:t>XGBoost</a:t>
            </a:r>
            <a:r>
              <a:rPr lang="en-US" altLang="en-US" sz="1700" dirty="0"/>
              <a:t> machine learning model used to predict expected episode cost based on clinical and operational characteristics</a:t>
            </a:r>
          </a:p>
          <a:p>
            <a:pPr marR="0" lvl="0" fontAlgn="base">
              <a:lnSpc>
                <a:spcPct val="90000"/>
              </a:lnSpc>
              <a:buSzTx/>
              <a:tabLst/>
            </a:pPr>
            <a:r>
              <a:rPr lang="en-US" altLang="en-US" sz="1700" dirty="0"/>
              <a:t>Enables risk-adjusted comparison of actual vs expected cost</a:t>
            </a:r>
          </a:p>
          <a:p>
            <a:pPr marR="0" lvl="0" fontAlgn="base">
              <a:lnSpc>
                <a:spcPct val="90000"/>
              </a:lnSpc>
              <a:buSzTx/>
              <a:tabLst/>
            </a:pPr>
            <a:r>
              <a:rPr lang="en-US" altLang="en-US" sz="1700" dirty="0"/>
              <a:t>Supports financial oversight, provider benchmarking and operational efficiency analysis</a:t>
            </a:r>
          </a:p>
          <a:p>
            <a:pPr marR="0" lvl="0" fontAlgn="base">
              <a:lnSpc>
                <a:spcPct val="90000"/>
              </a:lnSpc>
              <a:buSzTx/>
              <a:tabLst/>
            </a:pPr>
            <a:r>
              <a:rPr lang="en-US" altLang="en-US" sz="1700" dirty="0"/>
              <a:t>Forms the foundation for identifying cost outliers and variation patterns</a:t>
            </a:r>
          </a:p>
        </p:txBody>
      </p:sp>
    </p:spTree>
    <p:extLst>
      <p:ext uri="{BB962C8B-B14F-4D97-AF65-F5344CB8AC3E}">
        <p14:creationId xmlns:p14="http://schemas.microsoft.com/office/powerpoint/2010/main" val="4009251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Model?</a:t>
            </a:r>
          </a:p>
        </p:txBody>
      </p:sp>
      <p:sp>
        <p:nvSpPr>
          <p:cNvPr id="3" name="Content Placeholder 2"/>
          <p:cNvSpPr>
            <a:spLocks noGrp="1"/>
          </p:cNvSpPr>
          <p:nvPr>
            <p:ph idx="1"/>
          </p:nvPr>
        </p:nvSpPr>
        <p:spPr/>
        <p:txBody>
          <a:bodyPr/>
          <a:lstStyle/>
          <a:p>
            <a:pPr fontAlgn="base">
              <a:lnSpc>
                <a:spcPct val="90000"/>
              </a:lnSpc>
            </a:pPr>
            <a:r>
              <a:rPr sz="1700" dirty="0"/>
              <a:t>Hospital costs are non-linear and interaction-driven</a:t>
            </a:r>
            <a:endParaRPr lang="en-AU" sz="1700" dirty="0"/>
          </a:p>
          <a:p>
            <a:pPr fontAlgn="base">
              <a:lnSpc>
                <a:spcPct val="90000"/>
              </a:lnSpc>
            </a:pPr>
            <a:r>
              <a:rPr sz="1700" dirty="0"/>
              <a:t> </a:t>
            </a:r>
            <a:r>
              <a:rPr sz="1700" dirty="0" err="1"/>
              <a:t>XGBoost</a:t>
            </a:r>
            <a:r>
              <a:rPr sz="1700" dirty="0"/>
              <a:t> captures complex clinical interactions</a:t>
            </a:r>
            <a:endParaRPr lang="en-AU" sz="1700" dirty="0"/>
          </a:p>
          <a:p>
            <a:pPr fontAlgn="base">
              <a:lnSpc>
                <a:spcPct val="90000"/>
              </a:lnSpc>
            </a:pPr>
            <a:r>
              <a:rPr sz="1700" dirty="0"/>
              <a:t>Target encoding handles high-cardinality variables (e.g. DRG)</a:t>
            </a:r>
            <a:endParaRPr lang="en-AU" sz="1700" dirty="0"/>
          </a:p>
          <a:p>
            <a:pPr fontAlgn="base">
              <a:lnSpc>
                <a:spcPct val="90000"/>
              </a:lnSpc>
            </a:pPr>
            <a:r>
              <a:rPr sz="1700" dirty="0"/>
              <a:t>More robust than linear regression for structured healthcare data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Model Was Developed</a:t>
            </a:r>
          </a:p>
        </p:txBody>
      </p:sp>
      <p:sp>
        <p:nvSpPr>
          <p:cNvPr id="3" name="Content Placeholder 2"/>
          <p:cNvSpPr>
            <a:spLocks noGrp="1"/>
          </p:cNvSpPr>
          <p:nvPr>
            <p:ph idx="1"/>
          </p:nvPr>
        </p:nvSpPr>
        <p:spPr/>
        <p:txBody>
          <a:bodyPr/>
          <a:lstStyle/>
          <a:p>
            <a:pPr fontAlgn="base">
              <a:lnSpc>
                <a:spcPct val="90000"/>
              </a:lnSpc>
            </a:pPr>
            <a:r>
              <a:rPr sz="1700" dirty="0"/>
              <a:t>Log-transformed total charges to </a:t>
            </a:r>
            <a:r>
              <a:rPr sz="1700" dirty="0" err="1"/>
              <a:t>stabilise</a:t>
            </a:r>
            <a:r>
              <a:rPr sz="1700" dirty="0"/>
              <a:t> variance</a:t>
            </a:r>
            <a:endParaRPr lang="en-AU" sz="1700" dirty="0"/>
          </a:p>
          <a:p>
            <a:pPr fontAlgn="base">
              <a:lnSpc>
                <a:spcPct val="90000"/>
              </a:lnSpc>
            </a:pPr>
            <a:r>
              <a:rPr sz="1700" dirty="0"/>
              <a:t> Removed leakage variables (cost-derived features)</a:t>
            </a:r>
            <a:endParaRPr lang="en-AU" sz="1700" dirty="0"/>
          </a:p>
          <a:p>
            <a:pPr fontAlgn="base">
              <a:lnSpc>
                <a:spcPct val="90000"/>
              </a:lnSpc>
            </a:pPr>
            <a:r>
              <a:rPr sz="1700" dirty="0"/>
              <a:t> 5-fold cross-validation for </a:t>
            </a:r>
            <a:r>
              <a:rPr sz="1700" dirty="0" err="1"/>
              <a:t>generalisability</a:t>
            </a:r>
            <a:endParaRPr lang="en-AU" sz="1700" dirty="0"/>
          </a:p>
          <a:p>
            <a:pPr fontAlgn="base">
              <a:lnSpc>
                <a:spcPct val="90000"/>
              </a:lnSpc>
            </a:pPr>
            <a:r>
              <a:rPr sz="1700" dirty="0"/>
              <a:t>Bayesian </a:t>
            </a:r>
            <a:r>
              <a:rPr sz="1700" dirty="0" err="1"/>
              <a:t>optimisation</a:t>
            </a:r>
            <a:r>
              <a:rPr sz="1700" dirty="0"/>
              <a:t> for hyperparameter tuning</a:t>
            </a:r>
            <a:endParaRPr lang="en-AU" sz="1700" dirty="0"/>
          </a:p>
          <a:p>
            <a:pPr fontAlgn="base">
              <a:lnSpc>
                <a:spcPct val="90000"/>
              </a:lnSpc>
            </a:pPr>
            <a:r>
              <a:rPr sz="1700" dirty="0"/>
              <a:t>Final model retrained on full dataset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Performance</a:t>
            </a:r>
          </a:p>
        </p:txBody>
      </p:sp>
      <p:sp>
        <p:nvSpPr>
          <p:cNvPr id="3" name="Content Placeholder 2"/>
          <p:cNvSpPr>
            <a:spLocks noGrp="1"/>
          </p:cNvSpPr>
          <p:nvPr>
            <p:ph idx="1"/>
          </p:nvPr>
        </p:nvSpPr>
        <p:spPr/>
        <p:txBody>
          <a:bodyPr/>
          <a:lstStyle/>
          <a:p>
            <a:pPr fontAlgn="base">
              <a:lnSpc>
                <a:spcPct val="90000"/>
              </a:lnSpc>
            </a:pPr>
            <a:r>
              <a:rPr sz="1700" dirty="0"/>
              <a:t>Cross-validated RMSE (log scale): 0.271</a:t>
            </a:r>
            <a:endParaRPr lang="en-AU" sz="1700" dirty="0"/>
          </a:p>
          <a:p>
            <a:pPr fontAlgn="base">
              <a:lnSpc>
                <a:spcPct val="90000"/>
              </a:lnSpc>
            </a:pPr>
            <a:r>
              <a:rPr sz="1700" dirty="0"/>
              <a:t> R²: 0.952 (explains 95% of variance)</a:t>
            </a:r>
            <a:endParaRPr lang="en-AU" sz="1700" dirty="0"/>
          </a:p>
          <a:p>
            <a:pPr fontAlgn="base">
              <a:lnSpc>
                <a:spcPct val="90000"/>
              </a:lnSpc>
            </a:pPr>
            <a:r>
              <a:rPr sz="1700" dirty="0"/>
              <a:t> Typical multiplicative error ≈ 30%</a:t>
            </a:r>
            <a:endParaRPr lang="en-AU" sz="1700" dirty="0"/>
          </a:p>
          <a:p>
            <a:pPr fontAlgn="base">
              <a:lnSpc>
                <a:spcPct val="90000"/>
              </a:lnSpc>
            </a:pPr>
            <a:r>
              <a:rPr sz="1700" dirty="0"/>
              <a:t> Median-like deviation ≈ 15%</a:t>
            </a:r>
            <a:endParaRPr lang="en-AU" sz="1700" dirty="0"/>
          </a:p>
          <a:p>
            <a:pPr fontAlgn="base">
              <a:lnSpc>
                <a:spcPct val="90000"/>
              </a:lnSpc>
            </a:pPr>
            <a:r>
              <a:rPr sz="1700" dirty="0"/>
              <a:t> Stable performance across folds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Cost Drivers Identified</a:t>
            </a:r>
          </a:p>
        </p:txBody>
      </p:sp>
      <p:sp>
        <p:nvSpPr>
          <p:cNvPr id="3" name="Content Placeholder 2"/>
          <p:cNvSpPr>
            <a:spLocks noGrp="1"/>
          </p:cNvSpPr>
          <p:nvPr>
            <p:ph idx="1"/>
          </p:nvPr>
        </p:nvSpPr>
        <p:spPr/>
        <p:txBody>
          <a:bodyPr/>
          <a:lstStyle/>
          <a:p>
            <a:pPr fontAlgn="base">
              <a:lnSpc>
                <a:spcPct val="90000"/>
              </a:lnSpc>
            </a:pPr>
            <a:r>
              <a:rPr sz="1700" dirty="0"/>
              <a:t>Theatre </a:t>
            </a:r>
            <a:r>
              <a:rPr sz="1700" dirty="0" err="1"/>
              <a:t>utilisation</a:t>
            </a:r>
            <a:r>
              <a:rPr sz="1700" dirty="0"/>
              <a:t> (strongest driver)</a:t>
            </a:r>
            <a:endParaRPr lang="en-AU" sz="1700" dirty="0"/>
          </a:p>
          <a:p>
            <a:pPr fontAlgn="base">
              <a:lnSpc>
                <a:spcPct val="90000"/>
              </a:lnSpc>
            </a:pPr>
            <a:r>
              <a:rPr sz="1700" dirty="0"/>
              <a:t>DRG classification</a:t>
            </a:r>
            <a:endParaRPr lang="en-AU" sz="1700" dirty="0"/>
          </a:p>
          <a:p>
            <a:pPr fontAlgn="base">
              <a:lnSpc>
                <a:spcPct val="90000"/>
              </a:lnSpc>
            </a:pPr>
            <a:r>
              <a:rPr sz="1700" dirty="0"/>
              <a:t>Same-day vs inpatient status</a:t>
            </a:r>
            <a:endParaRPr lang="en-AU" sz="1700" dirty="0"/>
          </a:p>
          <a:p>
            <a:pPr fontAlgn="base">
              <a:lnSpc>
                <a:spcPct val="90000"/>
              </a:lnSpc>
            </a:pPr>
            <a:r>
              <a:rPr sz="1700" dirty="0"/>
              <a:t>Number of procedures</a:t>
            </a:r>
            <a:endParaRPr lang="en-AU" sz="1700" dirty="0"/>
          </a:p>
          <a:p>
            <a:pPr fontAlgn="base">
              <a:lnSpc>
                <a:spcPct val="90000"/>
              </a:lnSpc>
            </a:pPr>
            <a:r>
              <a:rPr sz="1700" dirty="0"/>
              <a:t>Length of stay</a:t>
            </a:r>
            <a:endParaRPr lang="en-AU" sz="1700" dirty="0"/>
          </a:p>
          <a:p>
            <a:pPr fontAlgn="base">
              <a:lnSpc>
                <a:spcPct val="90000"/>
              </a:lnSpc>
            </a:pPr>
            <a:r>
              <a:rPr sz="1700" dirty="0"/>
              <a:t>Cost driven by clinical intensity, not seasonality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Strategic Value</a:t>
            </a:r>
          </a:p>
        </p:txBody>
      </p:sp>
      <p:sp>
        <p:nvSpPr>
          <p:cNvPr id="3" name="Content Placeholder 2"/>
          <p:cNvSpPr>
            <a:spLocks noGrp="1"/>
          </p:cNvSpPr>
          <p:nvPr>
            <p:ph idx="1"/>
          </p:nvPr>
        </p:nvSpPr>
        <p:spPr/>
        <p:txBody>
          <a:bodyPr/>
          <a:lstStyle/>
          <a:p>
            <a:pPr fontAlgn="base">
              <a:lnSpc>
                <a:spcPct val="90000"/>
              </a:lnSpc>
            </a:pPr>
            <a:r>
              <a:rPr sz="1700" dirty="0"/>
              <a:t>Supports cost forecasting &amp; budgeting</a:t>
            </a:r>
            <a:endParaRPr lang="en-AU" sz="1700" dirty="0"/>
          </a:p>
          <a:p>
            <a:pPr fontAlgn="base">
              <a:lnSpc>
                <a:spcPct val="90000"/>
              </a:lnSpc>
            </a:pPr>
            <a:r>
              <a:rPr sz="1700" dirty="0"/>
              <a:t>Identifies high-cost pathways</a:t>
            </a:r>
            <a:endParaRPr lang="en-AU" sz="1700" dirty="0"/>
          </a:p>
          <a:p>
            <a:pPr fontAlgn="base">
              <a:lnSpc>
                <a:spcPct val="90000"/>
              </a:lnSpc>
            </a:pPr>
            <a:r>
              <a:rPr sz="1700" dirty="0"/>
              <a:t>Enables scenario modelling</a:t>
            </a:r>
            <a:endParaRPr lang="en-AU" sz="1700" dirty="0"/>
          </a:p>
          <a:p>
            <a:pPr fontAlgn="base">
              <a:lnSpc>
                <a:spcPct val="90000"/>
              </a:lnSpc>
            </a:pPr>
            <a:r>
              <a:rPr sz="1700" dirty="0"/>
              <a:t>Improves financial planning &amp; resource allocation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89946" y="1012116"/>
            <a:ext cx="6169592" cy="523220"/>
          </a:xfrm>
          <a:prstGeom prst="rect">
            <a:avLst/>
          </a:prstGeom>
          <a:noFill/>
        </p:spPr>
        <p:txBody>
          <a:bodyPr wrap="square">
            <a:spAutoFit/>
          </a:bodyPr>
          <a:lstStyle/>
          <a:p>
            <a:pPr>
              <a:defRPr sz="2800"/>
            </a:pPr>
            <a:r>
              <a:rPr dirty="0"/>
              <a:t>Outlier Detection Framework</a:t>
            </a:r>
          </a:p>
        </p:txBody>
      </p:sp>
      <p:sp>
        <p:nvSpPr>
          <p:cNvPr id="4" name="Rounded Rectangle 3"/>
          <p:cNvSpPr/>
          <p:nvPr/>
        </p:nvSpPr>
        <p:spPr>
          <a:xfrm>
            <a:off x="143047" y="1857041"/>
            <a:ext cx="2011680" cy="1097280"/>
          </a:xfrm>
          <a:prstGeom prst="roundRect">
            <a:avLst/>
          </a:prstGeom>
        </p:spPr>
        <p:style>
          <a:lnRef idx="1">
            <a:schemeClr val="accent1"/>
          </a:lnRef>
          <a:fillRef idx="3">
            <a:schemeClr val="accent1"/>
          </a:fillRef>
          <a:effectRef idx="2">
            <a:schemeClr val="accent1"/>
          </a:effectRef>
          <a:fontRef idx="minor">
            <a:schemeClr val="lt1"/>
          </a:fontRef>
        </p:style>
        <p:txBody>
          <a:bodyPr wrap="square" rtlCol="0" anchor="ctr"/>
          <a:lstStyle/>
          <a:p>
            <a:r>
              <a:rPr sz="1100" dirty="0"/>
              <a:t>1. Risk-Adjusted Model</a:t>
            </a:r>
          </a:p>
          <a:p>
            <a:r>
              <a:rPr sz="1100" dirty="0"/>
              <a:t>(</a:t>
            </a:r>
            <a:r>
              <a:rPr sz="1100" dirty="0" err="1"/>
              <a:t>XGBoost</a:t>
            </a:r>
            <a:r>
              <a:rPr sz="1100" dirty="0"/>
              <a:t>)</a:t>
            </a:r>
          </a:p>
          <a:p>
            <a:endParaRPr sz="1100" dirty="0"/>
          </a:p>
          <a:p>
            <a:r>
              <a:rPr sz="1100" dirty="0"/>
              <a:t>Predict Expected Cost</a:t>
            </a:r>
          </a:p>
        </p:txBody>
      </p:sp>
      <p:sp>
        <p:nvSpPr>
          <p:cNvPr id="5" name="Rounded Rectangle 4"/>
          <p:cNvSpPr/>
          <p:nvPr/>
        </p:nvSpPr>
        <p:spPr>
          <a:xfrm>
            <a:off x="2429047" y="1857041"/>
            <a:ext cx="2011680" cy="1097280"/>
          </a:xfrm>
          <a:prstGeom prst="roundRect">
            <a:avLst/>
          </a:prstGeom>
        </p:spPr>
        <p:style>
          <a:lnRef idx="1">
            <a:schemeClr val="accent1"/>
          </a:lnRef>
          <a:fillRef idx="3">
            <a:schemeClr val="accent1"/>
          </a:fillRef>
          <a:effectRef idx="2">
            <a:schemeClr val="accent1"/>
          </a:effectRef>
          <a:fontRef idx="minor">
            <a:schemeClr val="lt1"/>
          </a:fontRef>
        </p:style>
        <p:txBody>
          <a:bodyPr wrap="square" rtlCol="0" anchor="ctr"/>
          <a:lstStyle/>
          <a:p>
            <a:pPr lvl="1"/>
            <a:r>
              <a:rPr sz="1100" dirty="0"/>
              <a:t>2. Compare</a:t>
            </a:r>
          </a:p>
          <a:p>
            <a:pPr lvl="1"/>
            <a:r>
              <a:rPr sz="1100" dirty="0"/>
              <a:t>Actual vs Expected</a:t>
            </a:r>
          </a:p>
          <a:p>
            <a:pPr lvl="1"/>
            <a:endParaRPr sz="1100" dirty="0"/>
          </a:p>
          <a:p>
            <a:pPr lvl="1"/>
            <a:r>
              <a:rPr sz="1100" dirty="0"/>
              <a:t>Compute Residual</a:t>
            </a:r>
          </a:p>
        </p:txBody>
      </p:sp>
      <p:sp>
        <p:nvSpPr>
          <p:cNvPr id="6" name="Rounded Rectangle 5"/>
          <p:cNvSpPr/>
          <p:nvPr/>
        </p:nvSpPr>
        <p:spPr>
          <a:xfrm>
            <a:off x="4852207" y="1857041"/>
            <a:ext cx="2011680" cy="1097280"/>
          </a:xfrm>
          <a:prstGeom prst="roundRect">
            <a:avLst/>
          </a:prstGeom>
        </p:spPr>
        <p:style>
          <a:lnRef idx="1">
            <a:schemeClr val="accent1"/>
          </a:lnRef>
          <a:fillRef idx="3">
            <a:schemeClr val="accent1"/>
          </a:fillRef>
          <a:effectRef idx="2">
            <a:schemeClr val="accent1"/>
          </a:effectRef>
          <a:fontRef idx="minor">
            <a:schemeClr val="lt1"/>
          </a:fontRef>
        </p:style>
        <p:txBody>
          <a:bodyPr wrap="square" rtlCol="0" anchor="ctr"/>
          <a:lstStyle/>
          <a:p>
            <a:r>
              <a:rPr sz="1100" dirty="0"/>
              <a:t>3. </a:t>
            </a:r>
            <a:r>
              <a:rPr sz="1100" dirty="0" err="1"/>
              <a:t>Standardise</a:t>
            </a:r>
            <a:endParaRPr sz="1100" dirty="0"/>
          </a:p>
          <a:p>
            <a:r>
              <a:rPr sz="1100" dirty="0"/>
              <a:t>Residual</a:t>
            </a:r>
          </a:p>
          <a:p>
            <a:endParaRPr sz="1100" dirty="0"/>
          </a:p>
          <a:p>
            <a:r>
              <a:rPr sz="1100" dirty="0"/>
              <a:t>Z-Score = Residual / Model SD</a:t>
            </a:r>
          </a:p>
        </p:txBody>
      </p:sp>
      <p:sp>
        <p:nvSpPr>
          <p:cNvPr id="7" name="Rounded Rectangle 6"/>
          <p:cNvSpPr/>
          <p:nvPr/>
        </p:nvSpPr>
        <p:spPr>
          <a:xfrm>
            <a:off x="7001047" y="1857041"/>
            <a:ext cx="2011680" cy="1097280"/>
          </a:xfrm>
          <a:prstGeom prst="roundRect">
            <a:avLst/>
          </a:prstGeom>
        </p:spPr>
        <p:style>
          <a:lnRef idx="1">
            <a:schemeClr val="accent1"/>
          </a:lnRef>
          <a:fillRef idx="3">
            <a:schemeClr val="accent1"/>
          </a:fillRef>
          <a:effectRef idx="2">
            <a:schemeClr val="accent1"/>
          </a:effectRef>
          <a:fontRef idx="minor">
            <a:schemeClr val="lt1"/>
          </a:fontRef>
        </p:style>
        <p:txBody>
          <a:bodyPr wrap="square" rtlCol="0" anchor="ctr"/>
          <a:lstStyle/>
          <a:p>
            <a:pPr lvl="1"/>
            <a:r>
              <a:rPr sz="1100" dirty="0"/>
              <a:t>4. Flag Outliers</a:t>
            </a:r>
          </a:p>
          <a:p>
            <a:pPr lvl="1"/>
            <a:endParaRPr lang="en-AU" sz="1100" dirty="0"/>
          </a:p>
          <a:p>
            <a:pPr lvl="1"/>
            <a:r>
              <a:rPr sz="1100" dirty="0"/>
              <a:t>≥</a:t>
            </a:r>
            <a:r>
              <a:rPr lang="en-AU" sz="1100" dirty="0"/>
              <a:t> or &lt; </a:t>
            </a:r>
            <a:r>
              <a:rPr sz="1100" dirty="0"/>
              <a:t>2 SD = Unusual</a:t>
            </a:r>
          </a:p>
          <a:p>
            <a:pPr lvl="1"/>
            <a:r>
              <a:rPr sz="1100" dirty="0"/>
              <a:t>≥</a:t>
            </a:r>
            <a:r>
              <a:rPr lang="en-AU" sz="1100" dirty="0"/>
              <a:t> or &lt; </a:t>
            </a:r>
            <a:r>
              <a:rPr sz="1100" dirty="0"/>
              <a:t>3 SD = Extreme</a:t>
            </a:r>
          </a:p>
        </p:txBody>
      </p:sp>
      <p:sp>
        <p:nvSpPr>
          <p:cNvPr id="8" name="Right Arrow 7"/>
          <p:cNvSpPr/>
          <p:nvPr/>
        </p:nvSpPr>
        <p:spPr>
          <a:xfrm>
            <a:off x="2154727" y="2131361"/>
            <a:ext cx="548640" cy="54864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4440727" y="2131361"/>
            <a:ext cx="548640" cy="54864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6726727" y="2131361"/>
            <a:ext cx="548640" cy="54864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C050B5E-4C33-9E6F-1538-B033FDA8795D}"/>
              </a:ext>
            </a:extLst>
          </p:cNvPr>
          <p:cNvSpPr txBox="1"/>
          <p:nvPr/>
        </p:nvSpPr>
        <p:spPr>
          <a:xfrm>
            <a:off x="1905343" y="45299"/>
            <a:ext cx="7182095" cy="954107"/>
          </a:xfrm>
          <a:prstGeom prst="rect">
            <a:avLst/>
          </a:prstGeom>
          <a:noFill/>
        </p:spPr>
        <p:txBody>
          <a:bodyPr wrap="square">
            <a:spAutoFit/>
          </a:bodyPr>
          <a:lstStyle/>
          <a:p>
            <a:pPr>
              <a:defRPr sz="2800"/>
            </a:pPr>
            <a:r>
              <a:rPr lang="en-AU" dirty="0"/>
              <a:t>Use-case: detecting outliers that cost considerably more/less than expected</a:t>
            </a:r>
            <a:endParaRPr dirty="0"/>
          </a:p>
        </p:txBody>
      </p:sp>
      <p:pic>
        <p:nvPicPr>
          <p:cNvPr id="13" name="Picture 12">
            <a:extLst>
              <a:ext uri="{FF2B5EF4-FFF2-40B4-BE49-F238E27FC236}">
                <a16:creationId xmlns:a16="http://schemas.microsoft.com/office/drawing/2014/main" id="{9CF9C4FE-2D6E-4A4A-9776-55CDF5DFDB14}"/>
              </a:ext>
            </a:extLst>
          </p:cNvPr>
          <p:cNvPicPr>
            <a:picLocks noChangeAspect="1"/>
          </p:cNvPicPr>
          <p:nvPr/>
        </p:nvPicPr>
        <p:blipFill>
          <a:blip r:embed="rId3"/>
          <a:stretch>
            <a:fillRect/>
          </a:stretch>
        </p:blipFill>
        <p:spPr>
          <a:xfrm>
            <a:off x="2389946" y="3276027"/>
            <a:ext cx="4378531" cy="321584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E2E88-C978-7293-FAB5-548648CB9BDA}"/>
              </a:ext>
            </a:extLst>
          </p:cNvPr>
          <p:cNvSpPr>
            <a:spLocks noGrp="1"/>
          </p:cNvSpPr>
          <p:nvPr>
            <p:ph type="title"/>
          </p:nvPr>
        </p:nvSpPr>
        <p:spPr>
          <a:xfrm>
            <a:off x="1085815" y="171835"/>
            <a:ext cx="10065535" cy="477521"/>
          </a:xfrm>
        </p:spPr>
        <p:txBody>
          <a:bodyPr>
            <a:normAutofit fontScale="90000"/>
          </a:bodyPr>
          <a:lstStyle/>
          <a:p>
            <a:r>
              <a:rPr lang="en-AU" sz="2800" dirty="0"/>
              <a:t>Outliers of cases that cost more than expected</a:t>
            </a:r>
          </a:p>
        </p:txBody>
      </p:sp>
      <p:pic>
        <p:nvPicPr>
          <p:cNvPr id="5" name="Picture 4">
            <a:extLst>
              <a:ext uri="{FF2B5EF4-FFF2-40B4-BE49-F238E27FC236}">
                <a16:creationId xmlns:a16="http://schemas.microsoft.com/office/drawing/2014/main" id="{A357C5AE-35F3-31E2-086F-7CA9CFA2BCB7}"/>
              </a:ext>
            </a:extLst>
          </p:cNvPr>
          <p:cNvPicPr>
            <a:picLocks noChangeAspect="1"/>
          </p:cNvPicPr>
          <p:nvPr/>
        </p:nvPicPr>
        <p:blipFill>
          <a:blip r:embed="rId3"/>
          <a:stretch>
            <a:fillRect/>
          </a:stretch>
        </p:blipFill>
        <p:spPr>
          <a:xfrm>
            <a:off x="1585473" y="1331284"/>
            <a:ext cx="6698080" cy="4644702"/>
          </a:xfrm>
          <a:prstGeom prst="rect">
            <a:avLst/>
          </a:prstGeom>
        </p:spPr>
      </p:pic>
    </p:spTree>
    <p:extLst>
      <p:ext uri="{BB962C8B-B14F-4D97-AF65-F5344CB8AC3E}">
        <p14:creationId xmlns:p14="http://schemas.microsoft.com/office/powerpoint/2010/main" val="2080553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0C60-B6F6-7C19-411A-B00C4BAB3D84}"/>
              </a:ext>
            </a:extLst>
          </p:cNvPr>
          <p:cNvSpPr>
            <a:spLocks noGrp="1"/>
          </p:cNvSpPr>
          <p:nvPr>
            <p:ph type="title"/>
          </p:nvPr>
        </p:nvSpPr>
        <p:spPr>
          <a:xfrm>
            <a:off x="1506939" y="289358"/>
            <a:ext cx="7637061" cy="673738"/>
          </a:xfrm>
        </p:spPr>
        <p:txBody>
          <a:bodyPr/>
          <a:lstStyle/>
          <a:p>
            <a:r>
              <a:rPr lang="en-AU" dirty="0"/>
              <a:t>Key Findings – High-Cost Outliers</a:t>
            </a:r>
          </a:p>
        </p:txBody>
      </p:sp>
      <p:sp>
        <p:nvSpPr>
          <p:cNvPr id="4" name="Rectangle 1">
            <a:extLst>
              <a:ext uri="{FF2B5EF4-FFF2-40B4-BE49-F238E27FC236}">
                <a16:creationId xmlns:a16="http://schemas.microsoft.com/office/drawing/2014/main" id="{999FB772-6ABD-E42F-A125-2D4FF2E426EB}"/>
              </a:ext>
            </a:extLst>
          </p:cNvPr>
          <p:cNvSpPr>
            <a:spLocks noGrp="1" noChangeArrowheads="1"/>
          </p:cNvSpPr>
          <p:nvPr>
            <p:ph idx="1"/>
          </p:nvPr>
        </p:nvSpPr>
        <p:spPr bwMode="auto">
          <a:xfrm>
            <a:off x="1171406" y="1011050"/>
            <a:ext cx="7922455" cy="5899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fontAlgn="base">
              <a:lnSpc>
                <a:spcPct val="90000"/>
              </a:lnSpc>
              <a:buSzTx/>
              <a:tabLst/>
            </a:pPr>
            <a:r>
              <a:rPr lang="en-AU" sz="1000" b="1" dirty="0"/>
              <a:t>Interpretation</a:t>
            </a:r>
            <a:endParaRPr lang="en-US" altLang="en-US" sz="1000" dirty="0"/>
          </a:p>
          <a:p>
            <a:pPr marR="0" lvl="0" fontAlgn="base">
              <a:lnSpc>
                <a:spcPct val="90000"/>
              </a:lnSpc>
              <a:buSzTx/>
              <a:tabLst/>
            </a:pPr>
            <a:r>
              <a:rPr lang="en-US" altLang="en-US" sz="1000" dirty="0"/>
              <a:t>High-cost outliers increase progressively with cost segment severity.</a:t>
            </a:r>
          </a:p>
          <a:p>
            <a:pPr marR="0" lvl="0" fontAlgn="base">
              <a:lnSpc>
                <a:spcPct val="90000"/>
              </a:lnSpc>
              <a:buSzTx/>
              <a:tabLst/>
            </a:pPr>
            <a:r>
              <a:rPr lang="en-US" altLang="en-US" sz="1000" dirty="0"/>
              <a:t>Very High segment shows the greatest deviation:</a:t>
            </a:r>
          </a:p>
          <a:p>
            <a:pPr marL="742950" lvl="2" indent="-342900" fontAlgn="base">
              <a:lnSpc>
                <a:spcPct val="90000"/>
              </a:lnSpc>
            </a:pPr>
            <a:r>
              <a:rPr lang="en-US" altLang="en-US" sz="1000" dirty="0"/>
              <a:t>7.42% Extreme (≥3 SD)</a:t>
            </a:r>
          </a:p>
          <a:p>
            <a:pPr marL="742950" lvl="2" indent="-342900" fontAlgn="base">
              <a:lnSpc>
                <a:spcPct val="90000"/>
              </a:lnSpc>
            </a:pPr>
            <a:r>
              <a:rPr lang="en-US" altLang="en-US" sz="1000" dirty="0"/>
              <a:t>6.56% Unusual (≥2 SD)</a:t>
            </a:r>
          </a:p>
          <a:p>
            <a:pPr marR="0" lvl="0" fontAlgn="base">
              <a:lnSpc>
                <a:spcPct val="90000"/>
              </a:lnSpc>
              <a:buSzTx/>
              <a:tabLst/>
            </a:pPr>
            <a:r>
              <a:rPr lang="en-US" altLang="en-US" sz="1000" dirty="0"/>
              <a:t>Medium segment shows moderate variation:</a:t>
            </a:r>
          </a:p>
          <a:p>
            <a:pPr marL="742950" lvl="2" indent="-342900" fontAlgn="base">
              <a:lnSpc>
                <a:spcPct val="90000"/>
              </a:lnSpc>
            </a:pPr>
            <a:r>
              <a:rPr lang="en-US" altLang="en-US" sz="1000" dirty="0"/>
              <a:t>2.75% Extreme</a:t>
            </a:r>
          </a:p>
          <a:p>
            <a:pPr marL="742950" lvl="2" indent="-342900" fontAlgn="base">
              <a:lnSpc>
                <a:spcPct val="90000"/>
              </a:lnSpc>
            </a:pPr>
            <a:r>
              <a:rPr lang="en-US" altLang="en-US" sz="1000" dirty="0"/>
              <a:t>4.61% Unusual</a:t>
            </a:r>
          </a:p>
          <a:p>
            <a:pPr marR="0" lvl="0" fontAlgn="base">
              <a:lnSpc>
                <a:spcPct val="90000"/>
              </a:lnSpc>
              <a:buSzTx/>
              <a:tabLst/>
            </a:pPr>
            <a:r>
              <a:rPr lang="en-US" altLang="en-US" sz="1000" dirty="0"/>
              <a:t>Low-cost segment remains stable:</a:t>
            </a:r>
          </a:p>
          <a:p>
            <a:pPr marL="742950" lvl="2" indent="-342900" fontAlgn="base">
              <a:lnSpc>
                <a:spcPct val="90000"/>
              </a:lnSpc>
            </a:pPr>
            <a:r>
              <a:rPr lang="en-US" altLang="en-US" sz="1000" dirty="0"/>
              <a:t>&lt;1% extreme deviation</a:t>
            </a:r>
          </a:p>
          <a:p>
            <a:pPr marL="400050" lvl="2" indent="0" fontAlgn="base">
              <a:lnSpc>
                <a:spcPct val="90000"/>
              </a:lnSpc>
              <a:buNone/>
            </a:pPr>
            <a:endParaRPr lang="en-US" altLang="en-US" sz="1000" dirty="0"/>
          </a:p>
          <a:p>
            <a:pPr fontAlgn="base">
              <a:lnSpc>
                <a:spcPct val="90000"/>
              </a:lnSpc>
            </a:pPr>
            <a:r>
              <a:rPr lang="en-AU" sz="1000" b="1" dirty="0"/>
              <a:t>What This Suggests</a:t>
            </a:r>
            <a:endParaRPr lang="en-US" altLang="en-US" sz="1000" dirty="0"/>
          </a:p>
          <a:p>
            <a:pPr marR="0" lvl="0" fontAlgn="base">
              <a:lnSpc>
                <a:spcPct val="90000"/>
              </a:lnSpc>
              <a:buSzTx/>
              <a:tabLst/>
            </a:pPr>
            <a:r>
              <a:rPr lang="en-US" altLang="en-US" sz="1000" dirty="0"/>
              <a:t>Indicates strong model alignment for low-acuity cases</a:t>
            </a:r>
          </a:p>
          <a:p>
            <a:pPr marR="0" lvl="0" fontAlgn="base">
              <a:lnSpc>
                <a:spcPct val="90000"/>
              </a:lnSpc>
              <a:buSzTx/>
              <a:tabLst/>
            </a:pPr>
            <a:r>
              <a:rPr lang="en-US" altLang="en-US" sz="1000" dirty="0"/>
              <a:t>Financial risk exposure is concentrated in the highest complexity episodes.</a:t>
            </a:r>
          </a:p>
          <a:p>
            <a:pPr marR="0" lvl="0" fontAlgn="base">
              <a:lnSpc>
                <a:spcPct val="90000"/>
              </a:lnSpc>
              <a:buSzTx/>
              <a:tabLst/>
            </a:pPr>
            <a:r>
              <a:rPr lang="en-US" altLang="en-US" sz="1000" dirty="0"/>
              <a:t>Cost variability is could be structurally linked to clinical intensity.</a:t>
            </a:r>
          </a:p>
          <a:p>
            <a:pPr lvl="0" fontAlgn="base">
              <a:lnSpc>
                <a:spcPct val="90000"/>
              </a:lnSpc>
            </a:pPr>
            <a:r>
              <a:rPr lang="en-US" altLang="en-US" sz="1000" dirty="0"/>
              <a:t>Extreme high-cost deviations are approximately 11x more frequent in the Very High segment compared to the Low segment.</a:t>
            </a:r>
          </a:p>
          <a:p>
            <a:pPr lvl="0" fontAlgn="base">
              <a:lnSpc>
                <a:spcPct val="90000"/>
              </a:lnSpc>
            </a:pPr>
            <a:endParaRPr lang="en-US" altLang="en-US" sz="1000" dirty="0"/>
          </a:p>
          <a:p>
            <a:pPr fontAlgn="base">
              <a:lnSpc>
                <a:spcPct val="90000"/>
              </a:lnSpc>
            </a:pPr>
            <a:r>
              <a:rPr lang="en-AU" sz="1000" b="1" dirty="0"/>
              <a:t>Executive Implication</a:t>
            </a:r>
            <a:endParaRPr lang="en-US" altLang="en-US" sz="1000" dirty="0"/>
          </a:p>
          <a:p>
            <a:pPr lvl="0" fontAlgn="base">
              <a:lnSpc>
                <a:spcPct val="90000"/>
              </a:lnSpc>
            </a:pPr>
            <a:r>
              <a:rPr lang="en-US" altLang="en-US" sz="1000" dirty="0"/>
              <a:t>Financial volatility could  increase materially with episode complexity.</a:t>
            </a:r>
          </a:p>
          <a:p>
            <a:pPr lvl="0" fontAlgn="base">
              <a:lnSpc>
                <a:spcPct val="90000"/>
              </a:lnSpc>
            </a:pPr>
            <a:r>
              <a:rPr lang="en-US" altLang="en-US" sz="1000" dirty="0"/>
              <a:t>High-acuity care may drive disproportionate cost risk.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7930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3A02-633F-5631-D962-C75FBD51F9A7}"/>
              </a:ext>
            </a:extLst>
          </p:cNvPr>
          <p:cNvSpPr>
            <a:spLocks noGrp="1"/>
          </p:cNvSpPr>
          <p:nvPr>
            <p:ph type="title"/>
          </p:nvPr>
        </p:nvSpPr>
        <p:spPr>
          <a:xfrm>
            <a:off x="359808" y="101497"/>
            <a:ext cx="9157527" cy="1143000"/>
          </a:xfrm>
        </p:spPr>
        <p:txBody>
          <a:bodyPr>
            <a:normAutofit/>
          </a:bodyPr>
          <a:lstStyle/>
          <a:p>
            <a:r>
              <a:rPr lang="en-AU" sz="3200" dirty="0"/>
              <a:t>Outliers of cases that cost less than expected</a:t>
            </a:r>
          </a:p>
        </p:txBody>
      </p:sp>
      <p:pic>
        <p:nvPicPr>
          <p:cNvPr id="5" name="Picture 4">
            <a:extLst>
              <a:ext uri="{FF2B5EF4-FFF2-40B4-BE49-F238E27FC236}">
                <a16:creationId xmlns:a16="http://schemas.microsoft.com/office/drawing/2014/main" id="{AE8E07D1-ADD1-21E1-057E-A390C0940CDA}"/>
              </a:ext>
            </a:extLst>
          </p:cNvPr>
          <p:cNvPicPr>
            <a:picLocks noChangeAspect="1"/>
          </p:cNvPicPr>
          <p:nvPr/>
        </p:nvPicPr>
        <p:blipFill>
          <a:blip r:embed="rId2"/>
          <a:stretch>
            <a:fillRect/>
          </a:stretch>
        </p:blipFill>
        <p:spPr>
          <a:xfrm>
            <a:off x="1403474" y="1244497"/>
            <a:ext cx="6792686" cy="4532812"/>
          </a:xfrm>
          <a:prstGeom prst="rect">
            <a:avLst/>
          </a:prstGeom>
        </p:spPr>
      </p:pic>
    </p:spTree>
    <p:extLst>
      <p:ext uri="{BB962C8B-B14F-4D97-AF65-F5344CB8AC3E}">
        <p14:creationId xmlns:p14="http://schemas.microsoft.com/office/powerpoint/2010/main" val="1667301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1045" y="-16335"/>
            <a:ext cx="7485563" cy="1280890"/>
          </a:xfrm>
        </p:spPr>
        <p:txBody>
          <a:bodyPr/>
          <a:lstStyle/>
          <a:p>
            <a:r>
              <a:rPr dirty="0"/>
              <a:t>Key Findings</a:t>
            </a:r>
            <a:r>
              <a:rPr lang="en-AU" dirty="0"/>
              <a:t> – Low-Cost Outliers</a:t>
            </a:r>
            <a:endParaRPr dirty="0"/>
          </a:p>
        </p:txBody>
      </p:sp>
      <p:sp>
        <p:nvSpPr>
          <p:cNvPr id="3" name="Content Placeholder 2"/>
          <p:cNvSpPr>
            <a:spLocks noGrp="1"/>
          </p:cNvSpPr>
          <p:nvPr>
            <p:ph idx="1"/>
          </p:nvPr>
        </p:nvSpPr>
        <p:spPr>
          <a:xfrm>
            <a:off x="1193048" y="1221454"/>
            <a:ext cx="7794043" cy="5328137"/>
          </a:xfrm>
        </p:spPr>
        <p:txBody>
          <a:bodyPr>
            <a:noAutofit/>
          </a:bodyPr>
          <a:lstStyle/>
          <a:p>
            <a:r>
              <a:rPr lang="en-AU" sz="1000" b="1" dirty="0"/>
              <a:t>Interpretation</a:t>
            </a:r>
          </a:p>
          <a:p>
            <a:r>
              <a:rPr lang="en-AU" sz="1000" dirty="0"/>
              <a:t>Low-cost outliers are not concentrated in the Very High segment.</a:t>
            </a:r>
          </a:p>
          <a:p>
            <a:r>
              <a:rPr lang="en-AU" sz="1000" dirty="0"/>
              <a:t>Very High segment shows ~0% extreme low-cost cases, indicating structural cost intensity in catastrophic care.</a:t>
            </a:r>
          </a:p>
          <a:p>
            <a:r>
              <a:rPr lang="en-AU" sz="1000" dirty="0"/>
              <a:t>Medium segment shows the highest low-cost deviation (2.38% extreme, 3.99% unusual).</a:t>
            </a:r>
          </a:p>
          <a:p>
            <a:r>
              <a:rPr lang="en-AU" sz="1000" dirty="0"/>
              <a:t>Low segment shows minimal deviation (&lt;1% extreme), indicating stable cost alignment in low-intensity cases.</a:t>
            </a:r>
          </a:p>
          <a:p>
            <a:pPr marL="0" indent="0">
              <a:buNone/>
            </a:pPr>
            <a:br>
              <a:rPr lang="en-AU" sz="1000" dirty="0"/>
            </a:br>
            <a:endParaRPr lang="en-AU" sz="1000" dirty="0"/>
          </a:p>
          <a:p>
            <a:r>
              <a:rPr lang="en-AU" sz="1000" b="1" dirty="0"/>
              <a:t>What This Suggests</a:t>
            </a:r>
          </a:p>
          <a:p>
            <a:r>
              <a:rPr lang="en-AU" sz="1000" dirty="0"/>
              <a:t>Medium cost segment represents </a:t>
            </a:r>
            <a:r>
              <a:rPr lang="en-AU" sz="1000" b="1" dirty="0"/>
              <a:t>mid-range expenditure episodes</a:t>
            </a:r>
            <a:r>
              <a:rPr lang="en-AU" sz="1000" dirty="0"/>
              <a:t>, which may reflect moderate clinical complexity.</a:t>
            </a:r>
          </a:p>
          <a:p>
            <a:r>
              <a:rPr lang="en-AU" sz="1000" dirty="0"/>
              <a:t>This can be validated by examining LOS, procedure counts and ICU utilisation across segments.</a:t>
            </a:r>
          </a:p>
          <a:p>
            <a:r>
              <a:rPr lang="en-AU" sz="1000" dirty="0"/>
              <a:t>Greater low-cost variation in this segment suggests higher operational variability in semi-standardised care pathways.</a:t>
            </a:r>
          </a:p>
          <a:p>
            <a:r>
              <a:rPr lang="en-AU" sz="1000" dirty="0"/>
              <a:t>High-complexity (Very High) cases appear structurally constrained with limited room for cost compression.</a:t>
            </a:r>
          </a:p>
          <a:p>
            <a:r>
              <a:rPr lang="en-AU" sz="1000" dirty="0"/>
              <a:t>The pattern differs from high-cost outliers, which increase with expenditure severity and clinical intensity.</a:t>
            </a:r>
          </a:p>
          <a:p>
            <a:pPr marL="0" indent="0">
              <a:buNone/>
            </a:pPr>
            <a:br>
              <a:rPr lang="en-AU" sz="1000" dirty="0"/>
            </a:br>
            <a:endParaRPr lang="en-AU" sz="1000" dirty="0"/>
          </a:p>
          <a:p>
            <a:r>
              <a:rPr lang="en-AU" sz="1000" b="1" dirty="0"/>
              <a:t>Executive Implication</a:t>
            </a:r>
          </a:p>
          <a:p>
            <a:r>
              <a:rPr lang="en-AU" sz="1000" dirty="0"/>
              <a:t>Financial risk concentrates in high-acuity care.</a:t>
            </a:r>
          </a:p>
          <a:p>
            <a:r>
              <a:rPr lang="en-AU" sz="1000" dirty="0"/>
              <a:t>Efficiency opportunity likely concentrates in mid-range expenditure episodes.</a:t>
            </a:r>
          </a:p>
          <a:p>
            <a:r>
              <a:rPr lang="en-AU" sz="1000" dirty="0"/>
              <a:t>Targeted operational review of medium-cost pathways may yield the greatest optimisation impact.</a:t>
            </a:r>
          </a:p>
          <a:p>
            <a:pPr>
              <a:buFontTx/>
              <a:buChar char="-"/>
            </a:pPr>
            <a:endParaRPr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40F48-BD15-B92A-04C7-DA86A6F450CA}"/>
              </a:ext>
            </a:extLst>
          </p:cNvPr>
          <p:cNvSpPr>
            <a:spLocks noGrp="1"/>
          </p:cNvSpPr>
          <p:nvPr>
            <p:ph type="title"/>
          </p:nvPr>
        </p:nvSpPr>
        <p:spPr>
          <a:xfrm>
            <a:off x="1945201" y="624110"/>
            <a:ext cx="7263727" cy="647393"/>
          </a:xfrm>
        </p:spPr>
        <p:txBody>
          <a:bodyPr>
            <a:normAutofit/>
          </a:bodyPr>
          <a:lstStyle/>
          <a:p>
            <a:r>
              <a:rPr lang="en-AU" sz="2400" dirty="0"/>
              <a:t>Part IV: Recommendation – High-cost outliers</a:t>
            </a:r>
          </a:p>
        </p:txBody>
      </p:sp>
      <p:sp>
        <p:nvSpPr>
          <p:cNvPr id="6" name="TextBox 5">
            <a:extLst>
              <a:ext uri="{FF2B5EF4-FFF2-40B4-BE49-F238E27FC236}">
                <a16:creationId xmlns:a16="http://schemas.microsoft.com/office/drawing/2014/main" id="{AC233CF9-FD4F-4479-1D34-317723010A54}"/>
              </a:ext>
            </a:extLst>
          </p:cNvPr>
          <p:cNvSpPr txBox="1"/>
          <p:nvPr/>
        </p:nvSpPr>
        <p:spPr>
          <a:xfrm>
            <a:off x="1583899" y="1628653"/>
            <a:ext cx="7392371" cy="4939814"/>
          </a:xfrm>
          <a:prstGeom prst="rect">
            <a:avLst/>
          </a:prstGeom>
          <a:noFill/>
        </p:spPr>
        <p:txBody>
          <a:bodyPr wrap="square">
            <a:spAutoFit/>
          </a:bodyPr>
          <a:lstStyle/>
          <a:p>
            <a:pPr>
              <a:buNone/>
            </a:pPr>
            <a:r>
              <a:rPr lang="en-AU" sz="1100" b="1" dirty="0"/>
              <a:t>Immediate Actions (0–3 Months)</a:t>
            </a:r>
          </a:p>
          <a:p>
            <a:pPr>
              <a:buFont typeface="Arial" panose="020B0604020202020204" pitchFamily="34" charset="0"/>
              <a:buChar char="•"/>
            </a:pPr>
            <a:r>
              <a:rPr lang="en-AU" sz="1100" dirty="0"/>
              <a:t>Implement </a:t>
            </a:r>
            <a:r>
              <a:rPr lang="en-AU" sz="1100" b="1" dirty="0"/>
              <a:t>pre-submission review workflow</a:t>
            </a:r>
            <a:r>
              <a:rPr lang="en-AU" sz="1100" dirty="0"/>
              <a:t> for ≥3 SD episodes.</a:t>
            </a:r>
          </a:p>
          <a:p>
            <a:pPr>
              <a:buFont typeface="Arial" panose="020B0604020202020204" pitchFamily="34" charset="0"/>
              <a:buChar char="•"/>
            </a:pPr>
            <a:r>
              <a:rPr lang="en-AU" sz="1100" dirty="0"/>
              <a:t>Flag extreme cases before insurer submission to minimise disputes.</a:t>
            </a:r>
          </a:p>
          <a:p>
            <a:pPr lvl="1">
              <a:buFont typeface="Arial" panose="020B0604020202020204" pitchFamily="34" charset="0"/>
              <a:buChar char="•"/>
            </a:pPr>
            <a:r>
              <a:rPr lang="pt-BR" sz="1100" dirty="0"/>
              <a:t>Legitimate clinical complexity → </a:t>
            </a:r>
            <a:r>
              <a:rPr lang="pt-BR" sz="1100" b="1" dirty="0"/>
              <a:t>Document &amp; defend</a:t>
            </a:r>
          </a:p>
          <a:p>
            <a:pPr lvl="1">
              <a:buFont typeface="Arial" panose="020B0604020202020204" pitchFamily="34" charset="0"/>
              <a:buChar char="•"/>
            </a:pPr>
            <a:r>
              <a:rPr lang="en-AU" sz="1100" dirty="0"/>
              <a:t>Unwarranted operational variation → </a:t>
            </a:r>
            <a:r>
              <a:rPr lang="en-AU" sz="1100" b="1" dirty="0"/>
              <a:t>Improve pathway</a:t>
            </a:r>
          </a:p>
          <a:p>
            <a:pPr>
              <a:buFont typeface="Arial" panose="020B0604020202020204" pitchFamily="34" charset="0"/>
              <a:buChar char="•"/>
            </a:pPr>
            <a:r>
              <a:rPr lang="en-AU" sz="1100" dirty="0"/>
              <a:t>Require secondary clinical validation for:</a:t>
            </a:r>
          </a:p>
          <a:p>
            <a:pPr marL="742950" lvl="1" indent="-285750">
              <a:buFont typeface="Arial" panose="020B0604020202020204" pitchFamily="34" charset="0"/>
              <a:buChar char="•"/>
            </a:pPr>
            <a:r>
              <a:rPr lang="en-AU" sz="1100" dirty="0"/>
              <a:t>Extended LOS</a:t>
            </a:r>
          </a:p>
          <a:p>
            <a:pPr marL="742950" lvl="1" indent="-285750">
              <a:buFont typeface="Arial" panose="020B0604020202020204" pitchFamily="34" charset="0"/>
              <a:buChar char="•"/>
            </a:pPr>
            <a:r>
              <a:rPr lang="en-AU" sz="1100" dirty="0"/>
              <a:t>ICU utilisation</a:t>
            </a:r>
          </a:p>
          <a:p>
            <a:pPr marL="742950" lvl="1" indent="-285750">
              <a:buFont typeface="Arial" panose="020B0604020202020204" pitchFamily="34" charset="0"/>
              <a:buChar char="•"/>
            </a:pPr>
            <a:r>
              <a:rPr lang="en-AU" sz="1100" dirty="0"/>
              <a:t>High theatre time</a:t>
            </a:r>
          </a:p>
          <a:p>
            <a:pPr>
              <a:buFont typeface="Arial" panose="020B0604020202020204" pitchFamily="34" charset="0"/>
              <a:buChar char="•"/>
            </a:pPr>
            <a:r>
              <a:rPr lang="en-AU" sz="1100" dirty="0"/>
              <a:t>Establish escalation threshold (e.g. ≥ +3 SD = mandatory review).</a:t>
            </a:r>
          </a:p>
          <a:p>
            <a:pPr>
              <a:buNone/>
            </a:pPr>
            <a:br>
              <a:rPr lang="en-AU" sz="1100" dirty="0"/>
            </a:br>
            <a:endParaRPr lang="en-AU" sz="1100" dirty="0"/>
          </a:p>
          <a:p>
            <a:pPr>
              <a:buNone/>
            </a:pPr>
            <a:r>
              <a:rPr lang="en-AU" sz="1100" b="1" dirty="0"/>
              <a:t>Medium-Term Actions (3–12 Months)</a:t>
            </a:r>
          </a:p>
          <a:p>
            <a:pPr>
              <a:buFont typeface="Arial" panose="020B0604020202020204" pitchFamily="34" charset="0"/>
              <a:buChar char="•"/>
            </a:pPr>
            <a:r>
              <a:rPr lang="en-AU" sz="1100" dirty="0"/>
              <a:t>Build </a:t>
            </a:r>
            <a:r>
              <a:rPr lang="en-AU" sz="1100" b="1" dirty="0"/>
              <a:t>DRG-level high-cost monitoring dashboard</a:t>
            </a:r>
            <a:r>
              <a:rPr lang="en-AU" sz="1100" dirty="0"/>
              <a:t>.</a:t>
            </a:r>
          </a:p>
          <a:p>
            <a:pPr>
              <a:buFont typeface="Arial" panose="020B0604020202020204" pitchFamily="34" charset="0"/>
              <a:buChar char="•"/>
            </a:pPr>
            <a:r>
              <a:rPr lang="en-AU" sz="1100" dirty="0"/>
              <a:t>Track high-cost outlier rate by:</a:t>
            </a:r>
          </a:p>
          <a:p>
            <a:pPr marL="742950" lvl="1" indent="-285750">
              <a:buFont typeface="Arial" panose="020B0604020202020204" pitchFamily="34" charset="0"/>
              <a:buChar char="•"/>
            </a:pPr>
            <a:r>
              <a:rPr lang="en-AU" sz="1100" dirty="0"/>
              <a:t>Hospital</a:t>
            </a:r>
          </a:p>
          <a:p>
            <a:pPr marL="742950" lvl="1" indent="-285750">
              <a:buFont typeface="Arial" panose="020B0604020202020204" pitchFamily="34" charset="0"/>
              <a:buChar char="•"/>
            </a:pPr>
            <a:r>
              <a:rPr lang="en-AU" sz="1100" dirty="0"/>
              <a:t>Surgeon</a:t>
            </a:r>
          </a:p>
          <a:p>
            <a:pPr marL="742950" lvl="1" indent="-285750">
              <a:buFont typeface="Arial" panose="020B0604020202020204" pitchFamily="34" charset="0"/>
              <a:buChar char="•"/>
            </a:pPr>
            <a:r>
              <a:rPr lang="en-AU" sz="1100" dirty="0"/>
              <a:t>DRG</a:t>
            </a:r>
          </a:p>
          <a:p>
            <a:pPr marL="742950" lvl="1" indent="-285750">
              <a:buFont typeface="Arial" panose="020B0604020202020204" pitchFamily="34" charset="0"/>
              <a:buChar char="•"/>
            </a:pPr>
            <a:r>
              <a:rPr lang="en-AU" sz="1100" dirty="0"/>
              <a:t>Month</a:t>
            </a:r>
          </a:p>
          <a:p>
            <a:pPr>
              <a:buFont typeface="Arial" panose="020B0604020202020204" pitchFamily="34" charset="0"/>
              <a:buChar char="•"/>
            </a:pPr>
            <a:r>
              <a:rPr lang="en-AU" sz="1100" dirty="0"/>
              <a:t>Identify repeat deviation patterns.</a:t>
            </a:r>
          </a:p>
          <a:p>
            <a:pPr>
              <a:buFont typeface="Arial" panose="020B0604020202020204" pitchFamily="34" charset="0"/>
              <a:buChar char="•"/>
            </a:pPr>
            <a:r>
              <a:rPr lang="en-AU" sz="1100" dirty="0"/>
              <a:t>Conduct root cause reviews on top recurring drivers.</a:t>
            </a:r>
          </a:p>
          <a:p>
            <a:pPr>
              <a:buNone/>
            </a:pPr>
            <a:br>
              <a:rPr lang="en-AU" sz="1100" dirty="0"/>
            </a:br>
            <a:endParaRPr lang="en-AU" sz="1100" dirty="0"/>
          </a:p>
          <a:p>
            <a:pPr>
              <a:buNone/>
            </a:pPr>
            <a:r>
              <a:rPr lang="en-AU" sz="1100" b="1" dirty="0"/>
              <a:t>Long-Term Strategy</a:t>
            </a:r>
          </a:p>
          <a:p>
            <a:pPr>
              <a:buFont typeface="Arial" panose="020B0604020202020204" pitchFamily="34" charset="0"/>
              <a:buChar char="•"/>
            </a:pPr>
            <a:r>
              <a:rPr lang="en-AU" sz="1100" dirty="0"/>
              <a:t>Integrate predictive expected-cost benchmarks into contracting discussions.</a:t>
            </a:r>
          </a:p>
          <a:p>
            <a:pPr>
              <a:buFont typeface="Arial" panose="020B0604020202020204" pitchFamily="34" charset="0"/>
              <a:buChar char="•"/>
            </a:pPr>
            <a:r>
              <a:rPr lang="en-AU" sz="1100" dirty="0"/>
              <a:t>Negotiate complexity-adjusted pricing.</a:t>
            </a:r>
          </a:p>
          <a:p>
            <a:pPr>
              <a:buFont typeface="Arial" panose="020B0604020202020204" pitchFamily="34" charset="0"/>
              <a:buChar char="•"/>
            </a:pPr>
            <a:r>
              <a:rPr lang="en-AU" sz="1100" dirty="0"/>
              <a:t>Incorporate outlier thresholds into commercial agreements.</a:t>
            </a:r>
          </a:p>
          <a:p>
            <a:pPr>
              <a:buFont typeface="Arial" panose="020B0604020202020204" pitchFamily="34" charset="0"/>
              <a:buChar char="•"/>
            </a:pPr>
            <a:r>
              <a:rPr lang="en-AU" sz="1100" dirty="0"/>
              <a:t>Develop early-warning cost risk monitoring system.</a:t>
            </a:r>
          </a:p>
        </p:txBody>
      </p:sp>
    </p:spTree>
    <p:extLst>
      <p:ext uri="{BB962C8B-B14F-4D97-AF65-F5344CB8AC3E}">
        <p14:creationId xmlns:p14="http://schemas.microsoft.com/office/powerpoint/2010/main" val="3453521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7436868" cy="658214"/>
          </a:xfrm>
        </p:spPr>
        <p:txBody>
          <a:bodyPr>
            <a:normAutofit/>
          </a:bodyPr>
          <a:lstStyle/>
          <a:p>
            <a:r>
              <a:rPr lang="en-AU" sz="2400" dirty="0"/>
              <a:t>Part IV: Recommendation – Low-cost outliers</a:t>
            </a:r>
            <a:endParaRPr sz="2400" dirty="0"/>
          </a:p>
        </p:txBody>
      </p:sp>
      <p:sp>
        <p:nvSpPr>
          <p:cNvPr id="5" name="TextBox 4">
            <a:extLst>
              <a:ext uri="{FF2B5EF4-FFF2-40B4-BE49-F238E27FC236}">
                <a16:creationId xmlns:a16="http://schemas.microsoft.com/office/drawing/2014/main" id="{9EE76732-8945-CB11-493B-70DCEF8539DC}"/>
              </a:ext>
            </a:extLst>
          </p:cNvPr>
          <p:cNvSpPr txBox="1"/>
          <p:nvPr/>
        </p:nvSpPr>
        <p:spPr>
          <a:xfrm>
            <a:off x="1945201" y="1690062"/>
            <a:ext cx="6523348" cy="3477875"/>
          </a:xfrm>
          <a:prstGeom prst="rect">
            <a:avLst/>
          </a:prstGeom>
          <a:noFill/>
        </p:spPr>
        <p:txBody>
          <a:bodyPr wrap="square">
            <a:spAutoFit/>
          </a:bodyPr>
          <a:lstStyle/>
          <a:p>
            <a:pPr>
              <a:buNone/>
            </a:pPr>
            <a:r>
              <a:rPr lang="en-AU" sz="1100" b="1" dirty="0"/>
              <a:t>Immediate Actions (0–3 Months)</a:t>
            </a:r>
          </a:p>
          <a:p>
            <a:pPr>
              <a:buFont typeface="Arial" panose="020B0604020202020204" pitchFamily="34" charset="0"/>
              <a:buChar char="•"/>
            </a:pPr>
            <a:r>
              <a:rPr lang="en-AU" sz="1100" dirty="0"/>
              <a:t>Identify top 10 Medium-segment DRGs with:</a:t>
            </a:r>
          </a:p>
          <a:p>
            <a:pPr marL="742950" lvl="1" indent="-285750">
              <a:buFont typeface="Arial" panose="020B0604020202020204" pitchFamily="34" charset="0"/>
              <a:buChar char="•"/>
            </a:pPr>
            <a:r>
              <a:rPr lang="en-AU" sz="1100" dirty="0"/>
              <a:t>Highest low-cost deviation rate.</a:t>
            </a:r>
          </a:p>
          <a:p>
            <a:pPr>
              <a:buFont typeface="Arial" panose="020B0604020202020204" pitchFamily="34" charset="0"/>
              <a:buChar char="•"/>
            </a:pPr>
            <a:r>
              <a:rPr lang="en-AU" sz="1100" dirty="0"/>
              <a:t>Compare LOS, procedure count, theatre minutes across sites.</a:t>
            </a:r>
          </a:p>
          <a:p>
            <a:pPr>
              <a:buFont typeface="Arial" panose="020B0604020202020204" pitchFamily="34" charset="0"/>
              <a:buChar char="•"/>
            </a:pPr>
            <a:r>
              <a:rPr lang="en-AU" sz="1100" dirty="0"/>
              <a:t>Validate no adverse readmission or quality signal – </a:t>
            </a:r>
            <a:r>
              <a:rPr lang="en-AU" sz="1100" b="1" dirty="0"/>
              <a:t>Is quality of care compromised? Discharged too early?</a:t>
            </a:r>
          </a:p>
          <a:p>
            <a:pPr>
              <a:buNone/>
            </a:pPr>
            <a:br>
              <a:rPr lang="en-AU" sz="1100" dirty="0"/>
            </a:br>
            <a:endParaRPr lang="en-AU" sz="1100" dirty="0"/>
          </a:p>
          <a:p>
            <a:pPr>
              <a:buNone/>
            </a:pPr>
            <a:r>
              <a:rPr lang="en-AU" sz="1100" b="1" dirty="0"/>
              <a:t>Medium-Term Actions (3–12 Months)</a:t>
            </a:r>
          </a:p>
          <a:p>
            <a:pPr>
              <a:buFont typeface="Arial" panose="020B0604020202020204" pitchFamily="34" charset="0"/>
              <a:buChar char="•"/>
            </a:pPr>
            <a:r>
              <a:rPr lang="en-AU" sz="1100" dirty="0"/>
              <a:t>Develop </a:t>
            </a:r>
            <a:r>
              <a:rPr lang="en-AU" sz="1100" b="1" dirty="0"/>
              <a:t>site-level efficiency benchmarking</a:t>
            </a:r>
            <a:r>
              <a:rPr lang="en-AU" sz="1100" dirty="0"/>
              <a:t>:</a:t>
            </a:r>
          </a:p>
          <a:p>
            <a:pPr marL="742950" lvl="1" indent="-285750">
              <a:buFont typeface="Arial" panose="020B0604020202020204" pitchFamily="34" charset="0"/>
              <a:buChar char="•"/>
            </a:pPr>
            <a:r>
              <a:rPr lang="en-AU" sz="1100" dirty="0"/>
              <a:t>Average residual by DRG.</a:t>
            </a:r>
          </a:p>
          <a:p>
            <a:pPr>
              <a:buFont typeface="Arial" panose="020B0604020202020204" pitchFamily="34" charset="0"/>
              <a:buChar char="•"/>
            </a:pPr>
            <a:r>
              <a:rPr lang="en-AU" sz="1100" dirty="0"/>
              <a:t>Identify best-performing pathways.</a:t>
            </a:r>
          </a:p>
          <a:p>
            <a:pPr>
              <a:buFont typeface="Arial" panose="020B0604020202020204" pitchFamily="34" charset="0"/>
              <a:buChar char="•"/>
            </a:pPr>
            <a:r>
              <a:rPr lang="en-AU" sz="1100" dirty="0"/>
              <a:t>Conduct pathway mapping to extract operational differences.</a:t>
            </a:r>
          </a:p>
          <a:p>
            <a:pPr>
              <a:buFont typeface="Arial" panose="020B0604020202020204" pitchFamily="34" charset="0"/>
              <a:buChar char="•"/>
            </a:pPr>
            <a:r>
              <a:rPr lang="en-AU" sz="1100" dirty="0"/>
              <a:t>Standardise discharge planning protocols where appropriate.</a:t>
            </a:r>
          </a:p>
          <a:p>
            <a:pPr>
              <a:buNone/>
            </a:pPr>
            <a:br>
              <a:rPr lang="en-AU" sz="1100" dirty="0"/>
            </a:br>
            <a:endParaRPr lang="en-AU" sz="1100" dirty="0"/>
          </a:p>
          <a:p>
            <a:pPr>
              <a:buNone/>
            </a:pPr>
            <a:r>
              <a:rPr lang="en-AU" sz="1100" b="1" dirty="0"/>
              <a:t>Long-Term Strategy</a:t>
            </a:r>
          </a:p>
          <a:p>
            <a:pPr>
              <a:buFont typeface="Arial" panose="020B0604020202020204" pitchFamily="34" charset="0"/>
              <a:buChar char="•"/>
            </a:pPr>
            <a:r>
              <a:rPr lang="en-AU" sz="1100" dirty="0"/>
              <a:t>Create “efficiency scorecard” for moderate-complexity care.</a:t>
            </a:r>
          </a:p>
          <a:p>
            <a:pPr>
              <a:buFont typeface="Arial" panose="020B0604020202020204" pitchFamily="34" charset="0"/>
              <a:buChar char="•"/>
            </a:pPr>
            <a:r>
              <a:rPr lang="en-AU" sz="1100" dirty="0"/>
              <a:t>Share best-practice clinical pathways internally.</a:t>
            </a:r>
          </a:p>
          <a:p>
            <a:pPr>
              <a:buFont typeface="Arial" panose="020B0604020202020204" pitchFamily="34" charset="0"/>
              <a:buChar char="•"/>
            </a:pPr>
            <a:r>
              <a:rPr lang="en-AU" sz="1100" dirty="0"/>
              <a:t>Align incentive structures with efficient care delivery.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C7D0C-BACD-5744-E460-2B8F16BCAD20}"/>
              </a:ext>
            </a:extLst>
          </p:cNvPr>
          <p:cNvSpPr>
            <a:spLocks noGrp="1"/>
          </p:cNvSpPr>
          <p:nvPr>
            <p:ph type="title"/>
          </p:nvPr>
        </p:nvSpPr>
        <p:spPr/>
        <p:txBody>
          <a:bodyPr/>
          <a:lstStyle/>
          <a:p>
            <a:r>
              <a:rPr lang="en-AU" dirty="0"/>
              <a:t>Part IV: Recommendation - overall</a:t>
            </a:r>
          </a:p>
        </p:txBody>
      </p:sp>
      <p:sp>
        <p:nvSpPr>
          <p:cNvPr id="3" name="Content Placeholder 2">
            <a:extLst>
              <a:ext uri="{FF2B5EF4-FFF2-40B4-BE49-F238E27FC236}">
                <a16:creationId xmlns:a16="http://schemas.microsoft.com/office/drawing/2014/main" id="{3CBECF62-4FAF-D649-81D9-3785FE822B57}"/>
              </a:ext>
            </a:extLst>
          </p:cNvPr>
          <p:cNvSpPr>
            <a:spLocks noGrp="1"/>
          </p:cNvSpPr>
          <p:nvPr>
            <p:ph idx="1"/>
          </p:nvPr>
        </p:nvSpPr>
        <p:spPr/>
        <p:txBody>
          <a:bodyPr>
            <a:normAutofit fontScale="77500" lnSpcReduction="20000"/>
          </a:bodyPr>
          <a:lstStyle/>
          <a:p>
            <a:r>
              <a:rPr lang="en-AU" b="1" dirty="0"/>
              <a:t>Cross-Cutting Recommendation: Outliers Intelligence Dashboard</a:t>
            </a:r>
          </a:p>
          <a:p>
            <a:r>
              <a:rPr lang="en-AU" dirty="0"/>
              <a:t>Develop a real-time Outliers Dashboard including:</a:t>
            </a:r>
          </a:p>
          <a:p>
            <a:pPr lvl="1"/>
            <a:r>
              <a:rPr lang="en-AU" dirty="0"/>
              <a:t>Expected vs Actual cost</a:t>
            </a:r>
          </a:p>
          <a:p>
            <a:r>
              <a:rPr lang="en-AU" dirty="0"/>
              <a:t>Residual distribution</a:t>
            </a:r>
          </a:p>
          <a:p>
            <a:pPr lvl="1"/>
            <a:r>
              <a:rPr lang="en-AU" dirty="0"/>
              <a:t>% ≥ +2 SD and ≥ +3 SD</a:t>
            </a:r>
          </a:p>
          <a:p>
            <a:pPr lvl="1"/>
            <a:r>
              <a:rPr lang="en-AU" dirty="0"/>
              <a:t>% ≤ −2 SD and ≤ −3 SD</a:t>
            </a:r>
          </a:p>
          <a:p>
            <a:r>
              <a:rPr lang="en-AU" dirty="0"/>
              <a:t>Segment-level comparison</a:t>
            </a:r>
          </a:p>
          <a:p>
            <a:r>
              <a:rPr lang="en-AU" dirty="0"/>
              <a:t>DRG-level drill-down</a:t>
            </a:r>
          </a:p>
          <a:p>
            <a:r>
              <a:rPr lang="en-AU" dirty="0"/>
              <a:t>Provider-level trend monitoring</a:t>
            </a:r>
          </a:p>
          <a:p>
            <a:r>
              <a:rPr lang="en-AU" dirty="0"/>
              <a:t>Purpose:</a:t>
            </a:r>
          </a:p>
          <a:p>
            <a:pPr lvl="1"/>
            <a:r>
              <a:rPr lang="en-AU" dirty="0"/>
              <a:t>Shift from reactive auditing to predictive oversight.	</a:t>
            </a:r>
          </a:p>
          <a:p>
            <a:pPr lvl="1"/>
            <a:r>
              <a:rPr lang="en-AU" dirty="0"/>
              <a:t>Enable early intervention.</a:t>
            </a:r>
          </a:p>
          <a:p>
            <a:pPr lvl="1"/>
            <a:r>
              <a:rPr lang="en-AU" dirty="0"/>
              <a:t>Provide executive visibility.</a:t>
            </a:r>
          </a:p>
          <a:p>
            <a:endParaRPr lang="en-AU" dirty="0"/>
          </a:p>
        </p:txBody>
      </p:sp>
    </p:spTree>
    <p:extLst>
      <p:ext uri="{BB962C8B-B14F-4D97-AF65-F5344CB8AC3E}">
        <p14:creationId xmlns:p14="http://schemas.microsoft.com/office/powerpoint/2010/main" val="1148725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D76C3-6F32-8244-7491-EB531357CAC8}"/>
              </a:ext>
            </a:extLst>
          </p:cNvPr>
          <p:cNvSpPr>
            <a:spLocks noGrp="1"/>
          </p:cNvSpPr>
          <p:nvPr>
            <p:ph type="title"/>
          </p:nvPr>
        </p:nvSpPr>
        <p:spPr/>
        <p:txBody>
          <a:bodyPr>
            <a:normAutofit/>
          </a:bodyPr>
          <a:lstStyle/>
          <a:p>
            <a:r>
              <a:rPr lang="en-AU" dirty="0"/>
              <a:t>Part V: After thoughts - Model Limitations</a:t>
            </a:r>
          </a:p>
        </p:txBody>
      </p:sp>
      <p:sp>
        <p:nvSpPr>
          <p:cNvPr id="3" name="Content Placeholder 2">
            <a:extLst>
              <a:ext uri="{FF2B5EF4-FFF2-40B4-BE49-F238E27FC236}">
                <a16:creationId xmlns:a16="http://schemas.microsoft.com/office/drawing/2014/main" id="{CFD668F1-7E2F-E010-D52A-A89A0CE51992}"/>
              </a:ext>
            </a:extLst>
          </p:cNvPr>
          <p:cNvSpPr>
            <a:spLocks noGrp="1"/>
          </p:cNvSpPr>
          <p:nvPr>
            <p:ph idx="1"/>
          </p:nvPr>
        </p:nvSpPr>
        <p:spPr/>
        <p:txBody>
          <a:bodyPr/>
          <a:lstStyle/>
          <a:p>
            <a:pPr marL="0" indent="0">
              <a:buNone/>
            </a:pPr>
            <a:r>
              <a:rPr lang="en-AU" b="1" dirty="0"/>
              <a:t>Model Limitations &amp; Considerations</a:t>
            </a:r>
            <a:endParaRPr lang="en-AU" dirty="0"/>
          </a:p>
          <a:p>
            <a:pPr fontAlgn="ctr"/>
            <a:r>
              <a:rPr lang="en-AU" dirty="0"/>
              <a:t>Cost is influenced by contract pricing, not purely clinical intensity</a:t>
            </a:r>
          </a:p>
          <a:p>
            <a:pPr fontAlgn="ctr"/>
            <a:r>
              <a:rPr lang="en-AU" dirty="0"/>
              <a:t>Dataset reflects historical billing patterns</a:t>
            </a:r>
          </a:p>
          <a:p>
            <a:pPr fontAlgn="ctr"/>
            <a:r>
              <a:rPr lang="en-AU" dirty="0"/>
              <a:t>Quality metrics not fully incorporated (readmission validation pending)</a:t>
            </a:r>
          </a:p>
          <a:p>
            <a:pPr fontAlgn="ctr"/>
            <a:r>
              <a:rPr lang="en-AU" dirty="0"/>
              <a:t>Predictive model supports oversight, not clinical decision-making</a:t>
            </a:r>
          </a:p>
          <a:p>
            <a:endParaRPr lang="en-AU" dirty="0"/>
          </a:p>
        </p:txBody>
      </p:sp>
    </p:spTree>
    <p:extLst>
      <p:ext uri="{BB962C8B-B14F-4D97-AF65-F5344CB8AC3E}">
        <p14:creationId xmlns:p14="http://schemas.microsoft.com/office/powerpoint/2010/main" val="33010935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ADEC4-6E4A-F88A-9556-0F55FC31B231}"/>
              </a:ext>
            </a:extLst>
          </p:cNvPr>
          <p:cNvSpPr>
            <a:spLocks noGrp="1"/>
          </p:cNvSpPr>
          <p:nvPr>
            <p:ph type="title"/>
          </p:nvPr>
        </p:nvSpPr>
        <p:spPr/>
        <p:txBody>
          <a:bodyPr>
            <a:normAutofit/>
          </a:bodyPr>
          <a:lstStyle/>
          <a:p>
            <a:r>
              <a:rPr lang="en-AU" dirty="0"/>
              <a:t>Part V: After thought - Financial impact</a:t>
            </a:r>
          </a:p>
        </p:txBody>
      </p:sp>
      <p:sp>
        <p:nvSpPr>
          <p:cNvPr id="3" name="Content Placeholder 2">
            <a:extLst>
              <a:ext uri="{FF2B5EF4-FFF2-40B4-BE49-F238E27FC236}">
                <a16:creationId xmlns:a16="http://schemas.microsoft.com/office/drawing/2014/main" id="{8ADB6C7E-3DA5-C2C7-A524-8CDB5AE390C2}"/>
              </a:ext>
            </a:extLst>
          </p:cNvPr>
          <p:cNvSpPr>
            <a:spLocks noGrp="1"/>
          </p:cNvSpPr>
          <p:nvPr>
            <p:ph idx="1"/>
          </p:nvPr>
        </p:nvSpPr>
        <p:spPr>
          <a:xfrm>
            <a:off x="1942415" y="2133599"/>
            <a:ext cx="6591985" cy="4007489"/>
          </a:xfrm>
        </p:spPr>
        <p:txBody>
          <a:bodyPr>
            <a:normAutofit fontScale="85000" lnSpcReduction="20000"/>
          </a:bodyPr>
          <a:lstStyle/>
          <a:p>
            <a:pPr marL="0" indent="0">
              <a:buNone/>
            </a:pPr>
            <a:r>
              <a:rPr lang="en-AU" b="1" dirty="0"/>
              <a:t>Financial Exposure – Very High-cost Segment</a:t>
            </a:r>
          </a:p>
          <a:p>
            <a:r>
              <a:rPr lang="en-AU" dirty="0"/>
              <a:t>1,510 Very High episodes</a:t>
            </a:r>
          </a:p>
          <a:p>
            <a:r>
              <a:rPr lang="en-AU" dirty="0"/>
              <a:t>7.42% extreme = ~112 cases</a:t>
            </a:r>
          </a:p>
          <a:p>
            <a:r>
              <a:rPr lang="en-AU" dirty="0"/>
              <a:t>Median cost per case = $1.7M</a:t>
            </a:r>
          </a:p>
          <a:p>
            <a:r>
              <a:rPr lang="en-AU" dirty="0"/>
              <a:t>Estimated excess per extreme (&gt; 3SD) case ≈ $1.7M</a:t>
            </a:r>
          </a:p>
          <a:p>
            <a:r>
              <a:rPr lang="en-AU" b="1" dirty="0"/>
              <a:t>Estimated Exposure:</a:t>
            </a:r>
          </a:p>
          <a:p>
            <a:pPr lvl="1"/>
            <a:r>
              <a:rPr lang="en-AU" dirty="0"/>
              <a:t>~$190M in extreme high-cost cases</a:t>
            </a:r>
          </a:p>
          <a:p>
            <a:r>
              <a:rPr lang="en-AU" b="1" dirty="0"/>
              <a:t>Impact Scenario:</a:t>
            </a:r>
          </a:p>
          <a:p>
            <a:pPr lvl="1"/>
            <a:r>
              <a:rPr lang="en-AU" dirty="0"/>
              <a:t>If proactive monitoring reduces extreme cases by 5%:</a:t>
            </a:r>
          </a:p>
          <a:p>
            <a:pPr lvl="1"/>
            <a:r>
              <a:rPr lang="en-AU" dirty="0"/>
              <a:t>➜ ~6 cases avoided or better managed</a:t>
            </a:r>
            <a:endParaRPr lang="en-AU" b="1" dirty="0"/>
          </a:p>
          <a:p>
            <a:pPr lvl="1"/>
            <a:r>
              <a:rPr lang="en-AU" dirty="0"/>
              <a:t>5% reduction = ~$10M in avoidable financial exposure or protected margin (</a:t>
            </a:r>
            <a:r>
              <a:rPr lang="en-AU" dirty="0" err="1"/>
              <a:t>eg</a:t>
            </a:r>
            <a:r>
              <a:rPr lang="en-AU" dirty="0"/>
              <a:t>: Unnecessary excess cost variation, Audit write-down exposure, Revenue leakage due to disputes, Inefficient resource use)</a:t>
            </a:r>
          </a:p>
          <a:p>
            <a:pPr marL="457200" lvl="1" indent="0">
              <a:buNone/>
            </a:pPr>
            <a:endParaRPr lang="en-AU" dirty="0"/>
          </a:p>
        </p:txBody>
      </p:sp>
    </p:spTree>
    <p:extLst>
      <p:ext uri="{BB962C8B-B14F-4D97-AF65-F5344CB8AC3E}">
        <p14:creationId xmlns:p14="http://schemas.microsoft.com/office/powerpoint/2010/main" val="28461685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31067-CEE7-DC37-753B-8DE171F86C9F}"/>
              </a:ext>
            </a:extLst>
          </p:cNvPr>
          <p:cNvSpPr>
            <a:spLocks noGrp="1"/>
          </p:cNvSpPr>
          <p:nvPr>
            <p:ph type="title"/>
          </p:nvPr>
        </p:nvSpPr>
        <p:spPr/>
        <p:txBody>
          <a:bodyPr>
            <a:normAutofit/>
          </a:bodyPr>
          <a:lstStyle/>
          <a:p>
            <a:r>
              <a:rPr lang="en-AU" dirty="0"/>
              <a:t>Part V: After thoughts – long term sustainability</a:t>
            </a:r>
          </a:p>
        </p:txBody>
      </p:sp>
      <p:sp>
        <p:nvSpPr>
          <p:cNvPr id="3" name="Content Placeholder 2">
            <a:extLst>
              <a:ext uri="{FF2B5EF4-FFF2-40B4-BE49-F238E27FC236}">
                <a16:creationId xmlns:a16="http://schemas.microsoft.com/office/drawing/2014/main" id="{98D89FC9-DA4F-5011-BD8C-B60351886608}"/>
              </a:ext>
            </a:extLst>
          </p:cNvPr>
          <p:cNvSpPr>
            <a:spLocks noGrp="1"/>
          </p:cNvSpPr>
          <p:nvPr>
            <p:ph idx="1"/>
          </p:nvPr>
        </p:nvSpPr>
        <p:spPr/>
        <p:txBody>
          <a:bodyPr>
            <a:normAutofit fontScale="92500" lnSpcReduction="10000"/>
          </a:bodyPr>
          <a:lstStyle/>
          <a:p>
            <a:pPr marL="0" indent="0">
              <a:buNone/>
            </a:pPr>
            <a:r>
              <a:rPr lang="en-AU" b="1" dirty="0"/>
              <a:t>From Insight to Institutional Capability</a:t>
            </a:r>
          </a:p>
          <a:p>
            <a:pPr marL="0" indent="0">
              <a:buNone/>
            </a:pPr>
            <a:endParaRPr lang="en-AU" b="1" dirty="0"/>
          </a:p>
          <a:p>
            <a:pPr lvl="0" fontAlgn="base">
              <a:lnSpc>
                <a:spcPct val="110000"/>
              </a:lnSpc>
              <a:spcAft>
                <a:spcPct val="0"/>
              </a:spcAft>
            </a:pPr>
            <a:r>
              <a:rPr lang="en-US" altLang="en-US" dirty="0"/>
              <a:t>Establish a system-wide risk-adjusted cost benchmark across all episodes</a:t>
            </a:r>
          </a:p>
          <a:p>
            <a:pPr lvl="0" fontAlgn="base">
              <a:lnSpc>
                <a:spcPct val="110000"/>
              </a:lnSpc>
              <a:spcAft>
                <a:spcPct val="0"/>
              </a:spcAft>
            </a:pPr>
            <a:r>
              <a:rPr lang="en-US" altLang="en-US" dirty="0"/>
              <a:t>Proactively manage financial exposure before claims disputes arise</a:t>
            </a:r>
          </a:p>
          <a:p>
            <a:pPr lvl="0" fontAlgn="base">
              <a:lnSpc>
                <a:spcPct val="110000"/>
              </a:lnSpc>
              <a:spcAft>
                <a:spcPct val="0"/>
              </a:spcAft>
            </a:pPr>
            <a:r>
              <a:rPr lang="en-US" altLang="en-US" dirty="0"/>
              <a:t>Identify and scale high-performing operational pathways across sites and service lines</a:t>
            </a:r>
          </a:p>
          <a:p>
            <a:pPr lvl="0" fontAlgn="base">
              <a:lnSpc>
                <a:spcPct val="110000"/>
              </a:lnSpc>
              <a:spcAft>
                <a:spcPct val="0"/>
              </a:spcAft>
            </a:pPr>
            <a:r>
              <a:rPr lang="en-US" altLang="en-US" dirty="0"/>
              <a:t>Transition from reactive claim auditing to continuous performance governance</a:t>
            </a:r>
          </a:p>
          <a:p>
            <a:pPr lvl="0" fontAlgn="base">
              <a:lnSpc>
                <a:spcPct val="110000"/>
              </a:lnSpc>
              <a:spcAft>
                <a:spcPct val="0"/>
              </a:spcAft>
            </a:pPr>
            <a:r>
              <a:rPr lang="en-US" altLang="en-US" dirty="0"/>
              <a:t>Embed predictive analytics into routine financial oversight</a:t>
            </a:r>
          </a:p>
          <a:p>
            <a:pPr marL="0" indent="0">
              <a:buNone/>
            </a:pPr>
            <a:endParaRPr lang="en-AU" dirty="0"/>
          </a:p>
          <a:p>
            <a:endParaRPr lang="en-AU" dirty="0"/>
          </a:p>
        </p:txBody>
      </p:sp>
    </p:spTree>
    <p:extLst>
      <p:ext uri="{BB962C8B-B14F-4D97-AF65-F5344CB8AC3E}">
        <p14:creationId xmlns:p14="http://schemas.microsoft.com/office/powerpoint/2010/main" val="2424319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1019</TotalTime>
  <Words>4588</Words>
  <Application>Microsoft Office PowerPoint</Application>
  <PresentationFormat>On-screen Show (4:3)</PresentationFormat>
  <Paragraphs>658</Paragraphs>
  <Slides>39</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Aptos</vt:lpstr>
      <vt:lpstr>Arial</vt:lpstr>
      <vt:lpstr>Cambria Math</vt:lpstr>
      <vt:lpstr>Century Gothic</vt:lpstr>
      <vt:lpstr>Georgia</vt:lpstr>
      <vt:lpstr>Verdana</vt:lpstr>
      <vt:lpstr>Wingdings 3</vt:lpstr>
      <vt:lpstr>Wisp</vt:lpstr>
      <vt:lpstr>Data Scientist Case Study – Milo Joronen</vt:lpstr>
      <vt:lpstr>Introduction</vt:lpstr>
      <vt:lpstr>Structure of the presentation</vt:lpstr>
      <vt:lpstr>HCP Data Quality &amp; Billing Consistency Review</vt:lpstr>
      <vt:lpstr>Overview of Anomaly Detection</vt:lpstr>
      <vt:lpstr>Key Findings: Theatre &amp; Classification</vt:lpstr>
      <vt:lpstr>High-Acuity Care Inconsistencies</vt:lpstr>
      <vt:lpstr>Neonatal &amp; Zero-Charge Episodes</vt:lpstr>
      <vt:lpstr>Strategic Recommendations</vt:lpstr>
      <vt:lpstr>PART II: Exploratory Data Analysis</vt:lpstr>
      <vt:lpstr>Cost Segmentation</vt:lpstr>
      <vt:lpstr>Pareto behaviour</vt:lpstr>
      <vt:lpstr>Length of stay analysis</vt:lpstr>
      <vt:lpstr>Theatre usage analysis</vt:lpstr>
      <vt:lpstr> CCU / SCN / HIH Usage Analysis</vt:lpstr>
      <vt:lpstr>DRG Distribution</vt:lpstr>
      <vt:lpstr>DRG Distribution</vt:lpstr>
      <vt:lpstr>Urgency analysis</vt:lpstr>
      <vt:lpstr>Care Type analysis</vt:lpstr>
      <vt:lpstr>Part III: Advanced analytics -Modelling (XGBOOST): total charge prediction</vt:lpstr>
      <vt:lpstr>Motivation</vt:lpstr>
      <vt:lpstr>Hypotheses</vt:lpstr>
      <vt:lpstr>Methodology</vt:lpstr>
      <vt:lpstr>Why This Model?</vt:lpstr>
      <vt:lpstr>How The Model Was Developed</vt:lpstr>
      <vt:lpstr>Model Performance</vt:lpstr>
      <vt:lpstr>Key Cost Drivers Identified</vt:lpstr>
      <vt:lpstr>Strategic Value</vt:lpstr>
      <vt:lpstr>PowerPoint Presentation</vt:lpstr>
      <vt:lpstr>Outliers of cases that cost more than expected</vt:lpstr>
      <vt:lpstr>Key Findings – High-Cost Outliers</vt:lpstr>
      <vt:lpstr>Outliers of cases that cost less than expected</vt:lpstr>
      <vt:lpstr>Key Findings – Low-Cost Outliers</vt:lpstr>
      <vt:lpstr>Part IV: Recommendation – High-cost outliers</vt:lpstr>
      <vt:lpstr>Part IV: Recommendation – Low-cost outliers</vt:lpstr>
      <vt:lpstr>Part IV: Recommendation - overall</vt:lpstr>
      <vt:lpstr>Part V: After thoughts - Model Limitations</vt:lpstr>
      <vt:lpstr>Part V: After thought - Financial impact</vt:lpstr>
      <vt:lpstr>Part V: After thoughts – long term sustainability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Milo Le Joronen (NSW Health Pathology)</cp:lastModifiedBy>
  <cp:revision>16</cp:revision>
  <dcterms:created xsi:type="dcterms:W3CDTF">2013-01-27T09:14:16Z</dcterms:created>
  <dcterms:modified xsi:type="dcterms:W3CDTF">2026-02-13T07:51:00Z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0f30421-7766-42c6-b167-b4a273574e25_Enabled">
    <vt:lpwstr>true</vt:lpwstr>
  </property>
  <property fmtid="{D5CDD505-2E9C-101B-9397-08002B2CF9AE}" pid="3" name="MSIP_Label_00f30421-7766-42c6-b167-b4a273574e25_SetDate">
    <vt:lpwstr>2026-02-07T06:04:12Z</vt:lpwstr>
  </property>
  <property fmtid="{D5CDD505-2E9C-101B-9397-08002B2CF9AE}" pid="4" name="MSIP_Label_00f30421-7766-42c6-b167-b4a273574e25_Method">
    <vt:lpwstr>Privileged</vt:lpwstr>
  </property>
  <property fmtid="{D5CDD505-2E9C-101B-9397-08002B2CF9AE}" pid="5" name="MSIP_Label_00f30421-7766-42c6-b167-b4a273574e25_Name">
    <vt:lpwstr>UNOFFICIAL</vt:lpwstr>
  </property>
  <property fmtid="{D5CDD505-2E9C-101B-9397-08002B2CF9AE}" pid="6" name="MSIP_Label_00f30421-7766-42c6-b167-b4a273574e25_SiteId">
    <vt:lpwstr>a687a7bf-02db-43df-bcbb-e7a8bda611a2</vt:lpwstr>
  </property>
  <property fmtid="{D5CDD505-2E9C-101B-9397-08002B2CF9AE}" pid="7" name="MSIP_Label_00f30421-7766-42c6-b167-b4a273574e25_ActionId">
    <vt:lpwstr>11e97110-52d9-4499-9b86-a64459d3b6e2</vt:lpwstr>
  </property>
  <property fmtid="{D5CDD505-2E9C-101B-9397-08002B2CF9AE}" pid="8" name="MSIP_Label_00f30421-7766-42c6-b167-b4a273574e25_ContentBits">
    <vt:lpwstr>0</vt:lpwstr>
  </property>
  <property fmtid="{D5CDD505-2E9C-101B-9397-08002B2CF9AE}" pid="9" name="MSIP_Label_00f30421-7766-42c6-b167-b4a273574e25_Tag">
    <vt:lpwstr>10, 0, 1, 1</vt:lpwstr>
  </property>
</Properties>
</file>